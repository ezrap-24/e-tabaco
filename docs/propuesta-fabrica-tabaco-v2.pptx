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undumachine.en.made-in-china.com/product/LwTtGnpcVSfV/China-Yundu-Automatic-Vertical-Forming-Filling-Sealing-Pouch-Packaging-Machine.html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penghuimachinery.en.made-in-china.com/product/ZaPrKDglgLWp/China-Electric-Tobacco-Leaf-Cutting-Cutter-Machine-Dry-Herb-Spices-Shredder-Shredding-Machine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linway.en.made-in-china.com/product/kEcYFOKDLSUh/China-New-Heavy-Duty-Horizontal-Continuous-Bag-Pouch-Vacuum-Band-Sealer-Machine.html?pv_id=1jlasrf6c5eb&amp;faw_id=1jlass16if2a&amp;bv_id=1jlass16k118&amp;pbv_id=1jlasrdcp9a7l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743200"/>
            <a:ext cx="11430000" cy="36576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C85A17"/>
                </a:solidFill>
                <a:latin typeface="Georgia"/>
              </a:rPr>
              <a:t>e-TABACO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D2D2D2"/>
                </a:solidFill>
                <a:latin typeface="Georgia"/>
              </a:rPr>
              <a:t>Fábrica Propia de Envasado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9999"/>
                </a:solidFill>
                <a:latin typeface="Calibri"/>
              </a:rPr>
              <a:t>De distribuidor a productor independiente — Propuesta de Inversión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989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CONFIDENCIAL  ·  Abril 2026  ·  Presentado a Socios Estratégicos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85A17"/>
                </a:solidFill>
                <a:latin typeface="Georgia"/>
              </a:rPr>
              <a:t>El Contexto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02920" cy="5029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070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5A17"/>
                </a:solidFill>
                <a:latin typeface="Calibri"/>
              </a:rPr>
              <a:t>e-Tabaco en marcha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Plataforma e-commerce operativa, con catálogo de productos, carrito y checkout. Ventas en crecimiento.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23160"/>
            <a:ext cx="502920" cy="5029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2423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41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5A17"/>
                </a:solidFill>
                <a:latin typeface="Calibri"/>
              </a:rPr>
              <a:t>Demanda creciente en el mercado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70632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D2D2D"/>
                </a:solidFill>
                <a:latin typeface="Calibri"/>
              </a:rPr>
              <a:t>Chile </a:t>
            </a:r>
            <a:r>
              <a:rPr sz="1200" b="0" i="0" dirty="0" err="1">
                <a:solidFill>
                  <a:srgbClr val="2D2D2D"/>
                </a:solidFill>
                <a:latin typeface="Calibri"/>
              </a:rPr>
              <a:t>lidera</a:t>
            </a:r>
            <a:r>
              <a:rPr sz="1200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D2D2D"/>
                </a:solidFill>
                <a:latin typeface="Calibri"/>
              </a:rPr>
              <a:t>el</a:t>
            </a:r>
            <a:r>
              <a:rPr sz="1200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D2D2D"/>
                </a:solidFill>
                <a:latin typeface="Calibri"/>
              </a:rPr>
              <a:t>consumo</a:t>
            </a:r>
            <a:r>
              <a:rPr sz="1200" b="0" i="0" dirty="0">
                <a:solidFill>
                  <a:srgbClr val="2D2D2D"/>
                </a:solidFill>
                <a:latin typeface="Calibri"/>
              </a:rPr>
              <a:t> de tabaco </a:t>
            </a:r>
            <a:r>
              <a:rPr sz="1200" b="0" i="0" dirty="0" err="1">
                <a:solidFill>
                  <a:srgbClr val="2D2D2D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2D2D2D"/>
                </a:solidFill>
                <a:latin typeface="Calibri"/>
              </a:rPr>
              <a:t> América Latina. Alta </a:t>
            </a:r>
            <a:r>
              <a:rPr sz="1200" b="0" i="0" dirty="0" err="1">
                <a:solidFill>
                  <a:srgbClr val="2D2D2D"/>
                </a:solidFill>
                <a:latin typeface="Calibri"/>
              </a:rPr>
              <a:t>demanda</a:t>
            </a:r>
            <a:r>
              <a:rPr sz="1200" b="0" i="0" dirty="0">
                <a:solidFill>
                  <a:srgbClr val="2D2D2D"/>
                </a:solidFill>
                <a:latin typeface="Calibri"/>
              </a:rPr>
              <a:t> de tabaco para </a:t>
            </a:r>
            <a:r>
              <a:rPr lang="es-ES" sz="1200" b="0" i="0" dirty="0">
                <a:solidFill>
                  <a:srgbClr val="2D2D2D"/>
                </a:solidFill>
                <a:latin typeface="Calibri"/>
              </a:rPr>
              <a:t>enrolar</a:t>
            </a:r>
            <a:r>
              <a:rPr sz="1200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D2D2D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D2D2D"/>
                </a:solidFill>
                <a:latin typeface="Calibri"/>
              </a:rPr>
              <a:t>presentaciones</a:t>
            </a:r>
            <a:r>
              <a:rPr sz="1200" b="0" i="0" dirty="0">
                <a:solidFill>
                  <a:srgbClr val="2D2D2D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2D2D2D"/>
                </a:solidFill>
                <a:latin typeface="Calibri"/>
              </a:rPr>
              <a:t>bols</a:t>
            </a:r>
            <a:r>
              <a:rPr lang="es-ES" sz="1200" b="0" i="0" dirty="0">
                <a:solidFill>
                  <a:srgbClr val="2D2D2D"/>
                </a:solidFill>
                <a:latin typeface="Calibri"/>
              </a:rPr>
              <a:t>a de 40gr</a:t>
            </a:r>
            <a:r>
              <a:rPr sz="1200" b="0" i="0" dirty="0">
                <a:solidFill>
                  <a:srgbClr val="2D2D2D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657600"/>
            <a:ext cx="502920" cy="5029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657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67588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5A17"/>
                </a:solidFill>
                <a:latin typeface="Calibri"/>
              </a:rPr>
              <a:t>El cuello de botella 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050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Calibri"/>
              </a:rPr>
              <a:t>Toda la operación de envasado depende de terceros proveedores: sin control de calidad, timing ni costos.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937760"/>
            <a:ext cx="11521440" cy="14173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029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!  El Desafio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Sin control de timing, calidad ni margen. No podemos escalar si dependemos de proveedores externos.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e-Tabaco  |  Propuesta Fábrica de Envasado  |  Abril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85A17"/>
                </a:solidFill>
                <a:latin typeface="Georgia"/>
              </a:rPr>
              <a:t>El Mercado — Chile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651760" cy="201168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280160"/>
            <a:ext cx="246887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N°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295144"/>
            <a:ext cx="24688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2D2D2"/>
                </a:solidFill>
                <a:latin typeface="Calibri"/>
              </a:rPr>
              <a:t>Mayor consumidor de tabaco
en América Latina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188720"/>
            <a:ext cx="2651760" cy="20116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46120" y="1280160"/>
            <a:ext cx="246887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295144"/>
            <a:ext cx="24688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2D2D2"/>
                </a:solidFill>
                <a:latin typeface="Calibri"/>
              </a:rPr>
              <a:t>De la población adulta
consume tabaco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188720"/>
            <a:ext cx="2651760" cy="201168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280160"/>
            <a:ext cx="246887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US$9.5B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295144"/>
            <a:ext cx="24688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2D2D2"/>
                </a:solidFill>
                <a:latin typeface="Calibri"/>
              </a:rPr>
              <a:t>Mercado global de tabaco
para liar (RYO) en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188720"/>
            <a:ext cx="2651760" cy="201168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1280160"/>
            <a:ext cx="2468879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6.900M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295144"/>
            <a:ext cx="246887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2D2D2"/>
                </a:solidFill>
                <a:latin typeface="Calibri"/>
              </a:rPr>
              <a:t>Cigarrillos consumidos
anualmente (solo ilícitos)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74720"/>
            <a:ext cx="11521440" cy="13716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La Oportunidad para e-Tabaco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El tabaco para liar (roll-your-own) crece como alternativa más económica al cigarrillo convencional. El mercado está ahí — la pregunta es quién lo produce.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0749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Fuentes: Grand View Research 2024 · MIDEUC Encuesta Nacional Tabaco 2024 · Euromonitor International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e-Tabaco  |  Propuesta Fábrica de Envasado  |  Abril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85A17"/>
                </a:solidFill>
                <a:latin typeface="Georgia"/>
              </a:rPr>
              <a:t>La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303520" cy="530352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303520" cy="5029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Sin fabrica propia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B4AA"/>
                </a:solidFill>
                <a:latin typeface="Calibri"/>
              </a:rPr>
              <a:t>—  Dependencia total de proveedores externos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000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B4AA"/>
                </a:solidFill>
                <a:latin typeface="Calibri"/>
              </a:rPr>
              <a:t>—  Sin control de calidad del proceso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1693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B4AA"/>
                </a:solidFill>
                <a:latin typeface="Calibri"/>
              </a:rPr>
              <a:t>—  Márgenes reducidos por costos de terceros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8386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B4AA"/>
                </a:solidFill>
                <a:latin typeface="Calibri"/>
              </a:rPr>
              <a:t>—  Incapacidad de escalar ante mayor demanda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50791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B4AA"/>
                </a:solidFill>
                <a:latin typeface="Calibri"/>
              </a:rPr>
              <a:t>—  Riesgo de quiebre de stock sin aviso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1772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B4AA"/>
                </a:solidFill>
                <a:latin typeface="Calibri"/>
              </a:rPr>
              <a:t>—  Imposible diferenciar el producto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097280"/>
            <a:ext cx="5577840" cy="53035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5577840" cy="502920"/>
          </a:xfrm>
          <a:prstGeom prst="rect">
            <a:avLst/>
          </a:prstGeom>
          <a:solidFill>
            <a:srgbClr val="A04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1612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Fabrica Propia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+  Control total del proceso de envasado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50008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+  Calidad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garantizada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cada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bols</a:t>
            </a:r>
            <a:r>
              <a:rPr lang="es-ES" sz="1200" b="0" i="0" dirty="0">
                <a:solidFill>
                  <a:srgbClr val="FFFFFF"/>
                </a:solidFill>
                <a:latin typeface="Calibri"/>
              </a:rPr>
              <a:t>a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291693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+  Márgenes mejorados (elimina intermediario)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838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+  Escalar a 30.000 bolsitas/mes desde día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50791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+  Stock siempre disponible y planificado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617720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+  Marca</a:t>
            </a:r>
            <a:r>
              <a:rPr lang="es-ES" sz="1200" b="0" i="0" dirty="0">
                <a:solidFill>
                  <a:srgbClr val="FFFFFF"/>
                </a:solidFill>
                <a:latin typeface="Calibri"/>
              </a:rPr>
              <a:t>s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propia</a:t>
            </a:r>
            <a:r>
              <a:rPr lang="es-ES" sz="1200" b="0" i="0" dirty="0">
                <a:solidFill>
                  <a:srgbClr val="FFFFFF"/>
                </a:solidFill>
                <a:latin typeface="Calibri"/>
              </a:rPr>
              <a:t>s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con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sello</a:t>
            </a:r>
            <a:r>
              <a:rPr lang="es-ES" sz="1200" b="0" i="0" dirty="0">
                <a:solidFill>
                  <a:srgbClr val="FFFFFF"/>
                </a:solidFill>
                <a:latin typeface="Calibri"/>
              </a:rPr>
              <a:t>s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origen</a:t>
            </a:r>
            <a:r>
              <a:rPr sz="12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Calibri"/>
              </a:rPr>
              <a:t>propio</a:t>
            </a:r>
            <a:r>
              <a:rPr lang="es-ES" sz="1200" b="0" i="0" dirty="0">
                <a:solidFill>
                  <a:srgbClr val="FFFFFF"/>
                </a:solidFill>
                <a:latin typeface="Calibri"/>
              </a:rPr>
              <a:t>s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e-Tabaco  |  Propuesta Fábrica de Envasado  |  Abril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85A17"/>
                </a:solidFill>
                <a:latin typeface="Georgia"/>
              </a:rPr>
              <a:t>La Operación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21440" cy="6858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1.200 kg de tabaco despalado/mes   →   30.000 bolsitas de ~40g   →   Listas para la venta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11680"/>
            <a:ext cx="2057400" cy="384048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2103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0604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2D2D2"/>
                </a:solidFill>
                <a:latin typeface="Calibri"/>
              </a:rPr>
              <a:t>Tabaco despalado
procesado llega
a la fábrica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14800"/>
            <a:ext cx="1691640" cy="5029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1.200 kg/mes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5A17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011680"/>
            <a:ext cx="2057400" cy="384048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MAQUILADORA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60604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2D2D2"/>
                </a:solidFill>
                <a:latin typeface="Calibri"/>
              </a:rPr>
              <a:t>Procesamiento y
acondicionamiento
initial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4114800"/>
            <a:ext cx="1691640" cy="5029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0360" y="41148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Corte &amp; mezcla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5A17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011680"/>
            <a:ext cx="2057400" cy="384048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6360" y="2103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EMBOLSADORA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60604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D2D2D2"/>
                </a:solidFill>
                <a:latin typeface="Calibri"/>
              </a:rPr>
              <a:t>Envasado</a:t>
            </a:r>
            <a:r>
              <a:rPr sz="1000" b="0" i="0" dirty="0">
                <a:solidFill>
                  <a:srgbClr val="D2D2D2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D2D2D2"/>
                </a:solidFill>
                <a:latin typeface="Calibri"/>
              </a:rPr>
              <a:t>automático</a:t>
            </a:r>
            <a:r>
              <a:rPr sz="1000" b="0" i="0" dirty="0">
                <a:solidFill>
                  <a:srgbClr val="D2D2D2"/>
                </a:solidFill>
                <a:latin typeface="Calibri"/>
              </a:rPr>
              <a:t>
</a:t>
            </a:r>
            <a:r>
              <a:rPr sz="1000" b="0" i="0" dirty="0" err="1">
                <a:solidFill>
                  <a:srgbClr val="D2D2D2"/>
                </a:solidFill>
                <a:latin typeface="Calibri"/>
              </a:rPr>
              <a:t>en</a:t>
            </a:r>
            <a:r>
              <a:rPr sz="1000" b="0" i="0" dirty="0">
                <a:solidFill>
                  <a:srgbClr val="D2D2D2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D2D2D2"/>
                </a:solidFill>
                <a:latin typeface="Calibri"/>
              </a:rPr>
              <a:t>bolsitas</a:t>
            </a:r>
            <a:r>
              <a:rPr sz="1000" b="0" i="0" dirty="0">
                <a:solidFill>
                  <a:srgbClr val="D2D2D2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D2D2D2"/>
                </a:solidFill>
                <a:latin typeface="Calibri"/>
              </a:rPr>
              <a:t>ziploc</a:t>
            </a:r>
            <a:r>
              <a:rPr sz="1000" b="0" i="0" dirty="0">
                <a:solidFill>
                  <a:srgbClr val="D2D2D2"/>
                </a:solidFill>
                <a:latin typeface="Calibri"/>
              </a:rPr>
              <a:t>
con </a:t>
            </a:r>
            <a:r>
              <a:rPr sz="1000" b="0" i="0" dirty="0" err="1">
                <a:solidFill>
                  <a:srgbClr val="D2D2D2"/>
                </a:solidFill>
                <a:latin typeface="Calibri"/>
              </a:rPr>
              <a:t>aromatizante</a:t>
            </a:r>
            <a:endParaRPr sz="1000" b="0" i="0" dirty="0">
              <a:solidFill>
                <a:srgbClr val="D2D2D2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257800" y="4114800"/>
            <a:ext cx="1691640" cy="5029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57800" y="41148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2.700 bolsas/h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5A17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2011680"/>
            <a:ext cx="2057400" cy="384048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43800" y="2103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GUILLOTINA 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60604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2D2D2"/>
                </a:solidFill>
                <a:latin typeface="Calibri"/>
              </a:rPr>
              <a:t>Sellado térmico
y corte final
de cada bolsita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4114800"/>
            <a:ext cx="1691640" cy="5029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35240" y="41148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Sellado perfecto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5A17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2011680"/>
            <a:ext cx="2057400" cy="384048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21240" y="2103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SALIDA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60604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2D2D2"/>
                </a:solidFill>
                <a:latin typeface="Calibri"/>
              </a:rPr>
              <a:t>Producto listo
para distribución
y venta online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4114800"/>
            <a:ext cx="1691640" cy="50292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12680" y="41148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30.000 bolsitas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e-Tabaco  |  Propuesta Fábrica de Envasado  |  Abril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85A17"/>
                </a:solidFill>
                <a:latin typeface="Georgia"/>
              </a:rPr>
              <a:t>Maquinaria — Precios Investigados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51560"/>
            <a:ext cx="3749039" cy="539496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3749039" cy="59436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01  MAQUILADORA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D2D2"/>
                </a:solidFill>
                <a:latin typeface="Calibri"/>
              </a:rPr>
              <a:t>Procesamiento &amp; Corte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346" y="4114799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D2D2D2"/>
                </a:solidFill>
                <a:latin typeface="Calibri"/>
              </a:rPr>
              <a:t>· </a:t>
            </a:r>
            <a:r>
              <a:rPr sz="1000" b="0" i="0" dirty="0" err="1">
                <a:solidFill>
                  <a:srgbClr val="D2D2D2"/>
                </a:solidFill>
                <a:latin typeface="Calibri"/>
              </a:rPr>
              <a:t>Cortadora</a:t>
            </a:r>
            <a:r>
              <a:rPr sz="1000" b="0" i="0" dirty="0">
                <a:solidFill>
                  <a:srgbClr val="D2D2D2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D2D2D2"/>
                </a:solidFill>
                <a:latin typeface="Calibri"/>
              </a:rPr>
              <a:t>automática</a:t>
            </a:r>
            <a:r>
              <a:rPr sz="1000" b="0" i="0" dirty="0">
                <a:solidFill>
                  <a:srgbClr val="D2D2D2"/>
                </a:solidFill>
                <a:latin typeface="Calibri"/>
              </a:rPr>
              <a:t> de hoja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346" y="4416551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D2D2"/>
                </a:solidFill>
                <a:latin typeface="Calibri"/>
              </a:rPr>
              <a:t>· Capacidad: 100–500 kg/h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46" y="4718303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D2D2"/>
                </a:solidFill>
                <a:latin typeface="Calibri"/>
              </a:rPr>
              <a:t>· Corte: 0.8–2mm ajustable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052834"/>
            <a:ext cx="3566159" cy="127057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15" y="518542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Georgia"/>
              </a:rPr>
              <a:t>US$ 500 – 4.800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16" y="5525295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823C"/>
                </a:solidFill>
                <a:latin typeface="Calibri"/>
              </a:rPr>
              <a:t>$ 440K – $ 4.2M CLP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051560"/>
            <a:ext cx="3749039" cy="539496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06240" y="1051560"/>
            <a:ext cx="3749039" cy="59436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109728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02  EMBOLSADORA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42612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D2D2D2"/>
                </a:solidFill>
                <a:latin typeface="Calibri"/>
              </a:rPr>
              <a:t>Envasado</a:t>
            </a:r>
            <a:r>
              <a:rPr sz="1000" b="0" i="0" dirty="0">
                <a:solidFill>
                  <a:srgbClr val="D2D2D2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D2D2D2"/>
                </a:solidFill>
                <a:latin typeface="Calibri"/>
              </a:rPr>
              <a:t>Automático</a:t>
            </a:r>
            <a:endParaRPr sz="1000" b="0" i="0" dirty="0">
              <a:solidFill>
                <a:srgbClr val="D2D2D2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34192" y="409105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D2D2D2"/>
                </a:solidFill>
                <a:latin typeface="Calibri"/>
              </a:rPr>
              <a:t>· Multi-fila pouch packing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192" y="4392810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D2D2"/>
                </a:solidFill>
                <a:latin typeface="Calibri"/>
              </a:rPr>
              <a:t>· Velocidad: 2.700 bolsas/hora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192" y="4694562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D2D2"/>
                </a:solidFill>
                <a:latin typeface="Calibri"/>
              </a:rPr>
              <a:t>· PLC + pantalla táctil · 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5052834"/>
            <a:ext cx="3566159" cy="127057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34192" y="5121104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Georgia"/>
              </a:rPr>
              <a:t>US$ 4.400 – 12.000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45605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6823C"/>
                </a:solidFill>
                <a:latin typeface="Calibri"/>
              </a:rPr>
              <a:t>$ 3.9M – $ 10.6M CLP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1051560"/>
            <a:ext cx="3749039" cy="539496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79" y="1051560"/>
            <a:ext cx="3749039" cy="59436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109728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03  GUILLOTINA 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39" y="145430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D2D2D2"/>
                </a:solidFill>
                <a:latin typeface="Calibri"/>
              </a:rPr>
              <a:t>Sellado</a:t>
            </a:r>
            <a:r>
              <a:rPr sz="1000" b="0" i="0" dirty="0">
                <a:solidFill>
                  <a:srgbClr val="D2D2D2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D2D2D2"/>
                </a:solidFill>
                <a:latin typeface="Calibri"/>
              </a:rPr>
              <a:t>Térmico</a:t>
            </a:r>
            <a:r>
              <a:rPr sz="1000" b="0" i="0" dirty="0">
                <a:solidFill>
                  <a:srgbClr val="D2D2D2"/>
                </a:solidFill>
                <a:latin typeface="Calibri"/>
              </a:rPr>
              <a:t> &amp; Corte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9" y="4028292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D2D2"/>
                </a:solidFill>
                <a:latin typeface="Calibri"/>
              </a:rPr>
              <a:t>· Vertical band sealer continua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9" y="4330044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D2D2"/>
                </a:solidFill>
                <a:latin typeface="Calibri"/>
              </a:rPr>
              <a:t>· Carga: hasta 50 kg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9" y="4631796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D2D2"/>
                </a:solidFill>
                <a:latin typeface="Calibri"/>
              </a:rPr>
              <a:t>· PP · PE · PVC · polietileno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5046087"/>
            <a:ext cx="3566159" cy="1277321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75319" y="5046087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Georgia"/>
              </a:rPr>
              <a:t>US$ 250 – 1.850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5411847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823C"/>
                </a:solidFill>
                <a:latin typeface="Calibri"/>
              </a:rPr>
              <a:t>$ 220K – $ 1.6M CLP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6473952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9999"/>
                </a:solidFill>
                <a:latin typeface="Calibri"/>
              </a:rPr>
              <a:t>Fuente de precios: made-in-china.com  ·  Precios CIF estimados  ·  Sujetos a cotización formal  ·  Tipo cambio: $880 CLP/USD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e-Tabaco  |  Propuesta Fábrica de Envasado  |  Abril 2026</a:t>
            </a:r>
          </a:p>
        </p:txBody>
      </p:sp>
      <p:sp>
        <p:nvSpPr>
          <p:cNvPr id="46" name="TextBox 15">
            <a:extLst>
              <a:ext uri="{FF2B5EF4-FFF2-40B4-BE49-F238E27FC236}">
                <a16:creationId xmlns:a16="http://schemas.microsoft.com/office/drawing/2014/main" id="{E7004F01-73D3-4F4A-A197-D85717516A89}"/>
              </a:ext>
            </a:extLst>
          </p:cNvPr>
          <p:cNvSpPr txBox="1"/>
          <p:nvPr/>
        </p:nvSpPr>
        <p:spPr>
          <a:xfrm>
            <a:off x="251458" y="5738634"/>
            <a:ext cx="35204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999999"/>
                </a:solidFill>
                <a:latin typeface="Calibri"/>
              </a:rPr>
              <a:t>Guangzhou Penglai / Shanghai </a:t>
            </a:r>
            <a:r>
              <a:rPr sz="800" b="0" i="0" dirty="0" err="1">
                <a:solidFill>
                  <a:srgbClr val="999999"/>
                </a:solidFill>
                <a:latin typeface="Calibri"/>
              </a:rPr>
              <a:t>Nanjue</a:t>
            </a:r>
            <a:endParaRPr lang="es-ES" sz="800" b="0" i="0" dirty="0">
              <a:solidFill>
                <a:srgbClr val="999999"/>
              </a:solidFill>
              <a:latin typeface="Calibri"/>
            </a:endParaRPr>
          </a:p>
          <a:p>
            <a:pPr algn="l"/>
            <a:r>
              <a:rPr lang="es-ES" sz="800" b="0" i="0" dirty="0">
                <a:solidFill>
                  <a:srgbClr val="999999"/>
                </a:solidFill>
                <a:latin typeface="Calibri"/>
              </a:rPr>
              <a:t>Link:  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Electric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Tobacco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Leaf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Cutting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Cutter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Machine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Dry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Herb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Spices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Shredder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Shredding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Machine -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Tobacco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Leaf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Shredder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Machine and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Tobacco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Leaf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Cutter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Machine</a:t>
            </a:r>
            <a:endParaRPr sz="800" dirty="0">
              <a:solidFill>
                <a:srgbClr val="999999"/>
              </a:solidFill>
              <a:latin typeface="Calibri"/>
            </a:endParaRPr>
          </a:p>
        </p:txBody>
      </p:sp>
      <p:sp>
        <p:nvSpPr>
          <p:cNvPr id="47" name="TextBox 27">
            <a:extLst>
              <a:ext uri="{FF2B5EF4-FFF2-40B4-BE49-F238E27FC236}">
                <a16:creationId xmlns:a16="http://schemas.microsoft.com/office/drawing/2014/main" id="{CE74FC51-D847-48AE-B9F7-93628F7E33DB}"/>
              </a:ext>
            </a:extLst>
          </p:cNvPr>
          <p:cNvSpPr txBox="1"/>
          <p:nvPr/>
        </p:nvSpPr>
        <p:spPr>
          <a:xfrm>
            <a:off x="4263385" y="5798408"/>
            <a:ext cx="35204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0" i="0">
                <a:solidFill>
                  <a:srgbClr val="999999"/>
                </a:solidFill>
                <a:latin typeface="Calibri"/>
              </a:defRPr>
            </a:lvl1pPr>
          </a:lstStyle>
          <a:p>
            <a:r>
              <a:rPr dirty="0"/>
              <a:t>Guangzhou </a:t>
            </a:r>
            <a:r>
              <a:rPr dirty="0" err="1"/>
              <a:t>Yundu</a:t>
            </a:r>
            <a:r>
              <a:rPr dirty="0"/>
              <a:t> Machinery Technology</a:t>
            </a:r>
            <a:endParaRPr lang="es-ES" dirty="0"/>
          </a:p>
          <a:p>
            <a:r>
              <a:rPr lang="es-CL" dirty="0"/>
              <a:t>Link: </a:t>
            </a:r>
            <a:r>
              <a:rPr lang="en-US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Yundu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Automatic Vertical Forming Filling Sealing Pouch Packaging Machine - Measuring Cup Filling Packing Machine and Filling Packing Machine</a:t>
            </a:r>
            <a:endParaRPr dirty="0"/>
          </a:p>
        </p:txBody>
      </p:sp>
      <p:sp>
        <p:nvSpPr>
          <p:cNvPr id="48" name="TextBox 39">
            <a:extLst>
              <a:ext uri="{FF2B5EF4-FFF2-40B4-BE49-F238E27FC236}">
                <a16:creationId xmlns:a16="http://schemas.microsoft.com/office/drawing/2014/main" id="{727F9D90-4743-40BE-BE20-F1B85CCB86AD}"/>
              </a:ext>
            </a:extLst>
          </p:cNvPr>
          <p:cNvSpPr txBox="1"/>
          <p:nvPr/>
        </p:nvSpPr>
        <p:spPr>
          <a:xfrm>
            <a:off x="8321040" y="5789928"/>
            <a:ext cx="35204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 err="1">
                <a:solidFill>
                  <a:srgbClr val="999999"/>
                </a:solidFill>
                <a:latin typeface="Calibri"/>
              </a:rPr>
              <a:t>Linway</a:t>
            </a:r>
            <a:r>
              <a:rPr sz="800" b="0" i="0" dirty="0">
                <a:solidFill>
                  <a:srgbClr val="999999"/>
                </a:solidFill>
                <a:latin typeface="Calibri"/>
              </a:rPr>
              <a:t> International Limited</a:t>
            </a:r>
            <a:r>
              <a:rPr lang="es-ES" sz="800" b="0" i="0" dirty="0">
                <a:solidFill>
                  <a:srgbClr val="999999"/>
                </a:solidFill>
                <a:latin typeface="Calibri"/>
              </a:rPr>
              <a:t> </a:t>
            </a:r>
          </a:p>
          <a:p>
            <a:pPr algn="l"/>
            <a:r>
              <a:rPr lang="es-ES" sz="800" b="0" i="0" dirty="0">
                <a:solidFill>
                  <a:srgbClr val="999999"/>
                </a:solidFill>
                <a:latin typeface="Calibri"/>
              </a:rPr>
              <a:t>Link:  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 Heavy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Duty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Horizontal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Continuous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Bag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Pouch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Vacuum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Band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Sealer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Machine -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Vacuum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Bag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Sealer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and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Vacuum</a:t>
            </a:r>
            <a:r>
              <a:rPr lang="es-CL" sz="800" dirty="0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Band </a:t>
            </a:r>
            <a:r>
              <a:rPr lang="es-CL" sz="800" dirty="0" err="1">
                <a:solidFill>
                  <a:srgbClr val="999999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Sealer</a:t>
            </a:r>
            <a:endParaRPr sz="800" dirty="0">
              <a:solidFill>
                <a:srgbClr val="999999"/>
              </a:solidFill>
              <a:latin typeface="Calibri"/>
            </a:endParaRP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EB8C9ADD-9CB2-46D1-B586-1DB49F9D3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200" y="1719352"/>
            <a:ext cx="2408953" cy="2431767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064CF90B-390B-4FF3-A594-CEC737EE3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389" y="1699975"/>
            <a:ext cx="2628429" cy="2453321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E59F3759-57C0-4895-B39D-3D997A86FE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7947" y="1728027"/>
            <a:ext cx="2491848" cy="2363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85A17"/>
                </a:solidFill>
                <a:latin typeface="Georgia"/>
              </a:rPr>
              <a:t>Inversión Inicial Estimada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31089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8813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5A17"/>
                </a:solidFill>
                <a:latin typeface="Calibri"/>
              </a:rPr>
              <a:t>MAQUINARIA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0817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Maquiladora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081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4513"/>
                </a:solidFill>
                <a:latin typeface="Calibri"/>
              </a:rPr>
              <a:t>$440K – $4.2M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4081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Calibri"/>
              </a:rPr>
              <a:t>made-in-china.com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2821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Embolsadora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282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4513"/>
                </a:solidFill>
                <a:latin typeface="Calibri"/>
              </a:rPr>
              <a:t>$3.9M – $10.6M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7282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Calibri"/>
              </a:rPr>
              <a:t>made-in-china.com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4825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Guillotina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0482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4513"/>
                </a:solidFill>
                <a:latin typeface="Calibri"/>
              </a:rPr>
              <a:t>$220K – $1.6M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0482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Calibri"/>
              </a:rPr>
              <a:t>made-in-china.com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31720"/>
            <a:ext cx="11521440" cy="310896"/>
          </a:xfrm>
          <a:prstGeom prst="rect">
            <a:avLst/>
          </a:prstGeom>
          <a:solidFill>
            <a:srgbClr val="DC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36829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4513"/>
                </a:solidFill>
                <a:latin typeface="Calibri"/>
              </a:rPr>
              <a:t>Subtotal Maquinaria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3682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8B4513"/>
                </a:solidFill>
                <a:latin typeface="Calibri"/>
              </a:rPr>
              <a:t>$4.6M – $16.4M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51760"/>
            <a:ext cx="11521440" cy="31089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68833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5A17"/>
                </a:solidFill>
                <a:latin typeface="Calibri"/>
              </a:rPr>
              <a:t>INFRAESTRUCTURA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00837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Arriendo local (6m)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0083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4513"/>
                </a:solidFill>
                <a:latin typeface="Calibri"/>
              </a:rPr>
              <a:t>$3M – $6M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0083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Calibri"/>
              </a:rPr>
              <a:t>Estimado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32841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Servicios básicos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284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4513"/>
                </a:solidFill>
                <a:latin typeface="Calibri"/>
              </a:rPr>
              <a:t>$2.6M – $3M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3284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Calibri"/>
              </a:rPr>
              <a:t>Estimado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64845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Permisos/certific.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64845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4513"/>
                </a:solidFill>
                <a:latin typeface="Calibri"/>
              </a:rPr>
              <a:t>$2M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36484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Calibri"/>
              </a:rPr>
              <a:t>Estimado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31920"/>
            <a:ext cx="11521440" cy="310896"/>
          </a:xfrm>
          <a:prstGeom prst="rect">
            <a:avLst/>
          </a:prstGeom>
          <a:solidFill>
            <a:srgbClr val="DC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96849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4513"/>
                </a:solidFill>
                <a:latin typeface="Calibri"/>
              </a:rPr>
              <a:t>Subtotal Infraest.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9684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8B4513"/>
                </a:solidFill>
                <a:latin typeface="Calibri"/>
              </a:rPr>
              <a:t>$7.6M – $11M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251960"/>
            <a:ext cx="11521440" cy="310896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288536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5A17"/>
                </a:solidFill>
                <a:latin typeface="Calibri"/>
              </a:rPr>
              <a:t>CAPITAL INICIAL OPERAC.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60857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Bolsitas ziploc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6085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4513"/>
                </a:solidFill>
                <a:latin typeface="Calibri"/>
              </a:rPr>
              <a:t>$1.6M – $2.6M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46085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Calibri"/>
              </a:rPr>
              <a:t>Estimado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928616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Aromatizantes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9286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4513"/>
                </a:solidFill>
                <a:latin typeface="Calibri"/>
              </a:rPr>
              <a:t>$1.8M – $3.5M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49286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Calibri"/>
              </a:rPr>
              <a:t>Estimado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248655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Personal (2 meses)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24865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4513"/>
                </a:solidFill>
                <a:latin typeface="Calibri"/>
              </a:rPr>
              <a:t>$5.3M – $7M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524865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Calibri"/>
              </a:rPr>
              <a:t>Estimado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568695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  Stock tabaco (2 meses)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56869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4513"/>
                </a:solidFill>
                <a:latin typeface="Calibri"/>
              </a:rPr>
              <a:t>$24M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556869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999"/>
                </a:solidFill>
                <a:latin typeface="Calibri"/>
              </a:rPr>
              <a:t>1.200 kg x $10K x2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852159"/>
            <a:ext cx="11521440" cy="310896"/>
          </a:xfrm>
          <a:prstGeom prst="rect">
            <a:avLst/>
          </a:prstGeom>
          <a:solidFill>
            <a:srgbClr val="DC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5888735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4513"/>
                </a:solidFill>
                <a:latin typeface="Calibri"/>
              </a:rPr>
              <a:t>Subtotal Cap. Operac.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5888735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8B4513"/>
                </a:solidFill>
                <a:latin typeface="Calibri"/>
              </a:rPr>
              <a:t>$32.7M – $37.1M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172199"/>
            <a:ext cx="11521440" cy="402336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6227063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TOTAL CAPITAL REQUERIDO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6227063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Georgia"/>
              </a:rPr>
              <a:t>$45M – $65M CLP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9999"/>
                </a:solidFill>
                <a:latin typeface="Calibri"/>
              </a:rPr>
              <a:t>* Todos los valores en pesos chilenos (CLP).  Tipo de cambio referencial: $880 CLP/USD.  Precios sujetos a cotización formal.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e-Tabaco  |  Propuesta Fábrica de Envasado  |  Abril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85A17"/>
                </a:solidFill>
                <a:latin typeface="Georgia"/>
              </a:rPr>
              <a:t>Proyecciones Financieras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566160" cy="18288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30.000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2D2D2"/>
                </a:solidFill>
                <a:latin typeface="Calibri"/>
              </a:rPr>
              <a:t>Bolsitas/mes
Capacidad instalada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97280"/>
            <a:ext cx="3566160" cy="18288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1234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$78M CLP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031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2D2D2"/>
                </a:solidFill>
                <a:latin typeface="Calibri"/>
              </a:rPr>
              <a:t>Ingresos mensuales
precio fábrica $2.600/u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097280"/>
            <a:ext cx="3566160" cy="18288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80" y="12344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2 – 3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1031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2D2D2"/>
                </a:solidFill>
                <a:latin typeface="Calibri"/>
              </a:rPr>
              <a:t>Período de
Recuperación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54680"/>
            <a:ext cx="11430000" cy="32004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729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Supuestos base: precio fábrica $2.600 CLP/bolsita  ·  Tabaco despalado $10.000/kg  ·  Régimen pleno desde mes 3  ·  Impuesto renta 27% incluido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11430000" cy="246888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593591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5A17"/>
                </a:solidFill>
                <a:latin typeface="Calibri"/>
              </a:rPr>
              <a:t>Concepto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93591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5A17"/>
                </a:solidFill>
                <a:latin typeface="Calibri"/>
              </a:rPr>
              <a:t>Valor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93591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5A17"/>
                </a:solidFill>
                <a:latin typeface="Calibri"/>
              </a:rPr>
              <a:t>Nota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13048"/>
            <a:ext cx="11430000" cy="2468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840480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Precio venta por bolsita (fábrica)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840480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$2.600 CLP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840480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Precio salida fábrica confirmado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59935"/>
            <a:ext cx="11430000" cy="2468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087368"/>
            <a:ext cx="4114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2D2D2D"/>
                </a:solidFill>
                <a:latin typeface="Calibri"/>
              </a:rPr>
              <a:t>Costo</a:t>
            </a:r>
            <a:r>
              <a:rPr sz="900" b="0" i="0" dirty="0">
                <a:solidFill>
                  <a:srgbClr val="2D2D2D"/>
                </a:solidFill>
                <a:latin typeface="Calibri"/>
              </a:rPr>
              <a:t> tabaco/</a:t>
            </a:r>
            <a:r>
              <a:rPr sz="900" b="0" i="0" dirty="0" err="1">
                <a:solidFill>
                  <a:srgbClr val="2D2D2D"/>
                </a:solidFill>
                <a:latin typeface="Calibri"/>
              </a:rPr>
              <a:t>bols</a:t>
            </a:r>
            <a:r>
              <a:rPr lang="es-ES" sz="900" b="0" i="0" dirty="0">
                <a:solidFill>
                  <a:srgbClr val="2D2D2D"/>
                </a:solidFill>
                <a:latin typeface="Calibri"/>
              </a:rPr>
              <a:t>a</a:t>
            </a:r>
            <a:r>
              <a:rPr sz="900" b="0" i="0" dirty="0">
                <a:solidFill>
                  <a:srgbClr val="2D2D2D"/>
                </a:solidFill>
                <a:latin typeface="Calibri"/>
              </a:rPr>
              <a:t> (40g)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087368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$400 CLP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087368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1.200 kg x $10.000 / 30.000 bolsitas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06823"/>
            <a:ext cx="11430000" cy="2468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4334255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Costo operación/bolsita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334255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$270 – $320 CLP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334255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Ziploc + aromatiz. + labor + distrib.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553711"/>
            <a:ext cx="11430000" cy="2468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581143"/>
            <a:ext cx="4114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2D2D2D"/>
                </a:solidFill>
                <a:latin typeface="Calibri"/>
              </a:rPr>
              <a:t>Costo</a:t>
            </a:r>
            <a:r>
              <a:rPr sz="900" b="0" i="0" dirty="0">
                <a:solidFill>
                  <a:srgbClr val="2D2D2D"/>
                </a:solidFill>
                <a:latin typeface="Calibri"/>
              </a:rPr>
              <a:t> total/</a:t>
            </a:r>
            <a:r>
              <a:rPr sz="900" b="0" i="0" dirty="0" err="1">
                <a:solidFill>
                  <a:srgbClr val="2D2D2D"/>
                </a:solidFill>
                <a:latin typeface="Calibri"/>
              </a:rPr>
              <a:t>bols</a:t>
            </a:r>
            <a:r>
              <a:rPr lang="es-ES" sz="900" b="0" i="0" dirty="0">
                <a:solidFill>
                  <a:srgbClr val="2D2D2D"/>
                </a:solidFill>
                <a:latin typeface="Calibri"/>
              </a:rPr>
              <a:t>a</a:t>
            </a:r>
            <a:endParaRPr sz="900" b="0" i="0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754880" y="4581143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$670 – $720 CLP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581143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Tabaco + operación completa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800599"/>
            <a:ext cx="11430000" cy="2468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828031"/>
            <a:ext cx="4114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2D2D2D"/>
                </a:solidFill>
                <a:latin typeface="Calibri"/>
              </a:rPr>
              <a:t>Margen</a:t>
            </a:r>
            <a:r>
              <a:rPr sz="900" b="0" i="0" dirty="0">
                <a:solidFill>
                  <a:srgbClr val="2D2D2D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2D2D2D"/>
                </a:solidFill>
                <a:latin typeface="Calibri"/>
              </a:rPr>
              <a:t>bruto</a:t>
            </a:r>
            <a:r>
              <a:rPr sz="900" b="0" i="0" dirty="0">
                <a:solidFill>
                  <a:srgbClr val="2D2D2D"/>
                </a:solidFill>
                <a:latin typeface="Calibri"/>
              </a:rPr>
              <a:t>/</a:t>
            </a:r>
            <a:r>
              <a:rPr sz="900" b="0" i="0" dirty="0" err="1">
                <a:solidFill>
                  <a:srgbClr val="2D2D2D"/>
                </a:solidFill>
                <a:latin typeface="Calibri"/>
              </a:rPr>
              <a:t>bols</a:t>
            </a:r>
            <a:r>
              <a:rPr lang="es-ES" sz="900" b="0" i="0" dirty="0">
                <a:solidFill>
                  <a:srgbClr val="2D2D2D"/>
                </a:solidFill>
                <a:latin typeface="Calibri"/>
              </a:rPr>
              <a:t>a</a:t>
            </a:r>
            <a:endParaRPr sz="900" b="0" i="0" dirty="0">
              <a:solidFill>
                <a:srgbClr val="2D2D2D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754880" y="4828031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$1.880 – $1.930 CLP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828031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72 – 74% de margen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047487"/>
            <a:ext cx="11430000" cy="2468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5074919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Ingreso mensual (régimen pleno)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074919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$78M CLP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074919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30.000 u x $2.600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294375"/>
            <a:ext cx="11430000" cy="2468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5321807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Costo operacional mensual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5321807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$27M – $28M CLP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321807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Tabaco $12M + resto $15-16M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541263"/>
            <a:ext cx="11430000" cy="2468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5568695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Utilidad antes de impuesto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5568695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$50M – $51M CLP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568695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Régimen pleno mensual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788151"/>
            <a:ext cx="11430000" cy="2468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5815583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Impuesto a la Renta (27%)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5815583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$13.5M – $13.8M CLP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5815583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Tasa corporativa Chile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035039"/>
            <a:ext cx="11430000" cy="2468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2920" y="6062471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Utilidad neta mensual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0" y="6062471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$36M – $37M CLP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6062471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Despues de impuestos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6281927"/>
            <a:ext cx="11430000" cy="2468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" y="6309359"/>
            <a:ext cx="4114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Recuperacion de inversion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54880" y="6309359"/>
            <a:ext cx="3474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2D2D"/>
                </a:solidFill>
                <a:latin typeface="Calibri"/>
              </a:rPr>
              <a:t>2 – 3 meses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6309359"/>
            <a:ext cx="32004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Calibri"/>
              </a:rPr>
              <a:t>Capital total requerido $45M-$65M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e-Tabaco  |  Propuesta Fábrica de Envasado  |  Abril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85A17"/>
                </a:solidFill>
                <a:latin typeface="Georgia"/>
              </a:rPr>
              <a:t>Próximos Pasos —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194560" cy="9144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Semanas
1 –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29968"/>
            <a:ext cx="2194560" cy="457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075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Negociación &amp;
Cotizaciones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786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Cotización formal de maquinaria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358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Búsqueda y selección de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493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Estructura societaria con inversores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1417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5A17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097280"/>
            <a:ext cx="2194560" cy="9144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1188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Semanas
3 –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029968"/>
            <a:ext cx="2194560" cy="4572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2075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Compra &amp;
Permisos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5786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Compra de maquinaria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0358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Contrato de arriendo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493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Trámites de permisos legales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417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5A17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097280"/>
            <a:ext cx="2194560" cy="9144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1188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Semanas
5 – 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029968"/>
            <a:ext cx="2194560" cy="4572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0" y="2075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Instalación &amp;
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5786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Instalación de maquinaria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0358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Contratación de operarios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493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Pruebas iniciales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1417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5A17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1097280"/>
            <a:ext cx="2194560" cy="91440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79" y="1188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Semanas
7 – 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2029968"/>
            <a:ext cx="2194560" cy="4572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79" y="2075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Pruebas &amp;
Certificación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25786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Pruebas de calidad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0358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Ajustes de proceso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493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Primera producción piloto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14173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5A17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1097280"/>
            <a:ext cx="2194560" cy="9144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75519" y="1188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Mes 3+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84080" y="2029968"/>
            <a:ext cx="2194560" cy="457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875519" y="2075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Régimen
Pleno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19" y="25786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30.000 bolsitas/mes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19" y="30358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Integración con e-Tabaco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19" y="3493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Calibri"/>
              </a:rPr>
              <a:t>· Expansión de catálogo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943600"/>
            <a:ext cx="11612880" cy="59436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60167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Con capital aprobado, podemos estar en produccion plena en 8 semanas.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e-Tabaco  |  Propuesta Fábrica de Envasado  |  Abril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Georgia"/>
              </a:rPr>
              <a:t>Buscamos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C85A17"/>
                </a:solidFill>
                <a:latin typeface="Georgia"/>
              </a:rPr>
              <a:t>Socios Estratégicos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514600"/>
            <a:ext cx="11430000" cy="36576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2743200"/>
            <a:ext cx="5486400" cy="128016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2743200"/>
            <a:ext cx="5486400" cy="41148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807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INVERSION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2"/>
                </a:solidFill>
                <a:latin typeface="Calibri"/>
              </a:rPr>
              <a:t>$45M – $65M CLP
capital total requerido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486400" cy="128016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2743200"/>
            <a:ext cx="5486400" cy="41148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807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2"/>
                </a:solidFill>
                <a:latin typeface="Calibri"/>
              </a:rPr>
              <a:t>8 semanas al inicio
de produccion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5486400" cy="128016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4206240"/>
            <a:ext cx="5486400" cy="41148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2702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RETORNO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09159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2D2D2"/>
                </a:solidFill>
                <a:latin typeface="Calibri"/>
              </a:rPr>
              <a:t>Recuperacion en
2 – 3 meses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486400" cy="1280160"/>
          </a:xfrm>
          <a:prstGeom prst="rect">
            <a:avLst/>
          </a:prstGeom>
          <a:solidFill>
            <a:srgbClr val="3D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486400" cy="41148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2702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CAPACIDAD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09159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D2D2D2"/>
                </a:solidFill>
                <a:latin typeface="Calibri"/>
              </a:rPr>
              <a:t>30.000 </a:t>
            </a:r>
            <a:r>
              <a:rPr sz="1300" b="0" i="0" dirty="0" err="1">
                <a:solidFill>
                  <a:srgbClr val="D2D2D2"/>
                </a:solidFill>
                <a:latin typeface="Calibri"/>
              </a:rPr>
              <a:t>bols</a:t>
            </a:r>
            <a:r>
              <a:rPr lang="es-ES" sz="1300" b="0" i="0" dirty="0">
                <a:solidFill>
                  <a:srgbClr val="D2D2D2"/>
                </a:solidFill>
                <a:latin typeface="Calibri"/>
              </a:rPr>
              <a:t>as</a:t>
            </a:r>
            <a:r>
              <a:rPr sz="1300" b="0" i="0" dirty="0">
                <a:solidFill>
                  <a:srgbClr val="D2D2D2"/>
                </a:solidFill>
                <a:latin typeface="Calibri"/>
              </a:rPr>
              <a:t>/</a:t>
            </a:r>
            <a:r>
              <a:rPr sz="1300" b="0" i="0" dirty="0" err="1">
                <a:solidFill>
                  <a:srgbClr val="D2D2D2"/>
                </a:solidFill>
                <a:latin typeface="Calibri"/>
              </a:rPr>
              <a:t>mes</a:t>
            </a:r>
            <a:r>
              <a:rPr sz="1300" b="0" i="0" dirty="0">
                <a:solidFill>
                  <a:srgbClr val="D2D2D2"/>
                </a:solidFill>
                <a:latin typeface="Calibri"/>
              </a:rPr>
              <a:t>
$78M CLP </a:t>
            </a:r>
            <a:r>
              <a:rPr sz="1300" b="0" i="0" dirty="0" err="1">
                <a:solidFill>
                  <a:srgbClr val="D2D2D2"/>
                </a:solidFill>
                <a:latin typeface="Calibri"/>
              </a:rPr>
              <a:t>ingreso</a:t>
            </a:r>
            <a:r>
              <a:rPr sz="1300" b="0" i="0" dirty="0">
                <a:solidFill>
                  <a:srgbClr val="D2D2D2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D2D2D2"/>
                </a:solidFill>
                <a:latin typeface="Calibri"/>
              </a:rPr>
              <a:t>mensual</a:t>
            </a:r>
            <a:endParaRPr sz="1300" b="0" i="0" dirty="0">
              <a:solidFill>
                <a:srgbClr val="D2D2D2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828800" y="5760720"/>
            <a:ext cx="8503920" cy="685800"/>
          </a:xfrm>
          <a:prstGeom prst="rect">
            <a:avLst/>
          </a:prstGeom>
          <a:solidFill>
            <a:srgbClr val="C85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0" y="5806440"/>
            <a:ext cx="8503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Georgia"/>
              </a:rPr>
              <a:t> Estamos </a:t>
            </a:r>
            <a:r>
              <a:rPr sz="1800" b="1" i="0" dirty="0" err="1">
                <a:solidFill>
                  <a:srgbClr val="FFFFFF"/>
                </a:solidFill>
                <a:latin typeface="Georgia"/>
              </a:rPr>
              <a:t>listos</a:t>
            </a:r>
            <a:r>
              <a:rPr sz="1800" b="1" i="0" dirty="0">
                <a:solidFill>
                  <a:srgbClr val="FFFFFF"/>
                </a:solidFill>
                <a:latin typeface="Georgia"/>
              </a:rPr>
              <a:t> para </a:t>
            </a:r>
            <a:r>
              <a:rPr sz="1800" b="1" i="0" dirty="0" err="1">
                <a:solidFill>
                  <a:srgbClr val="FFFFFF"/>
                </a:solidFill>
                <a:latin typeface="Georgia"/>
              </a:rPr>
              <a:t>avanzar</a:t>
            </a:r>
            <a:r>
              <a:rPr sz="1800" b="1" i="0" dirty="0">
                <a:solidFill>
                  <a:srgbClr val="FFFFFF"/>
                </a:solidFill>
                <a:latin typeface="Georgia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1263</Words>
  <Application>Microsoft Office PowerPoint</Application>
  <PresentationFormat>Personalizado</PresentationFormat>
  <Paragraphs>230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Ezrap Torres</cp:lastModifiedBy>
  <cp:revision>2</cp:revision>
  <dcterms:created xsi:type="dcterms:W3CDTF">2013-01-27T09:14:16Z</dcterms:created>
  <dcterms:modified xsi:type="dcterms:W3CDTF">2026-04-04T01:05:33Z</dcterms:modified>
  <cp:category/>
</cp:coreProperties>
</file>