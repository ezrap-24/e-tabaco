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Rectangle 1"/>
          <p:cNvSpPr/>
          <p:nvPr/>
        </p:nvSpPr>
        <p:spPr>
          <a:xfrm>
            <a:off x="0" y="0"/>
            <a:ext cx="411480" cy="6858000"/>
          </a:xfrm>
          <a:prstGeom prst="rect">
            <a:avLst/>
          </a:prstGeom>
          <a:solidFill>
            <a:srgbClr val="8B6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11480" y="6035040"/>
            <a:ext cx="11777472" cy="822960"/>
          </a:xfrm>
          <a:prstGeom prst="rect">
            <a:avLst/>
          </a:prstGeom>
          <a:solidFill>
            <a:srgbClr val="F5F0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280160"/>
            <a:ext cx="10058400" cy="1005840"/>
          </a:xfrm>
          <a:prstGeom prst="rect">
            <a:avLst/>
          </a:prstGeom>
          <a:noFill/>
        </p:spPr>
        <p:txBody>
          <a:bodyPr wrap="square">
            <a:spAutoFit/>
          </a:bodyPr>
          <a:lstStyle/>
          <a:p>
            <a:pPr algn="l"/>
            <a:r>
              <a:rPr sz="4800" b="1" i="0">
                <a:solidFill>
                  <a:srgbClr val="FFFFFF"/>
                </a:solidFill>
                <a:latin typeface="Georgia"/>
              </a:rPr>
              <a:t>Propuesta de Nombre</a:t>
            </a:r>
          </a:p>
        </p:txBody>
      </p:sp>
      <p:sp>
        <p:nvSpPr>
          <p:cNvPr id="5" name="TextBox 4"/>
          <p:cNvSpPr txBox="1"/>
          <p:nvPr/>
        </p:nvSpPr>
        <p:spPr>
          <a:xfrm>
            <a:off x="914400" y="2240280"/>
            <a:ext cx="10058400" cy="777240"/>
          </a:xfrm>
          <a:prstGeom prst="rect">
            <a:avLst/>
          </a:prstGeom>
          <a:noFill/>
        </p:spPr>
        <p:txBody>
          <a:bodyPr wrap="square">
            <a:spAutoFit/>
          </a:bodyPr>
          <a:lstStyle/>
          <a:p>
            <a:pPr algn="l"/>
            <a:r>
              <a:rPr sz="4800" b="1" i="0">
                <a:solidFill>
                  <a:srgbClr val="8B6914"/>
                </a:solidFill>
                <a:latin typeface="Georgia"/>
              </a:rPr>
              <a:t>y Dominio Web .cl</a:t>
            </a:r>
          </a:p>
        </p:txBody>
      </p:sp>
      <p:sp>
        <p:nvSpPr>
          <p:cNvPr id="6" name="TextBox 5"/>
          <p:cNvSpPr txBox="1"/>
          <p:nvPr/>
        </p:nvSpPr>
        <p:spPr>
          <a:xfrm>
            <a:off x="914400" y="3154680"/>
            <a:ext cx="10058400" cy="457200"/>
          </a:xfrm>
          <a:prstGeom prst="rect">
            <a:avLst/>
          </a:prstGeom>
          <a:noFill/>
        </p:spPr>
        <p:txBody>
          <a:bodyPr wrap="square">
            <a:spAutoFit/>
          </a:bodyPr>
          <a:lstStyle/>
          <a:p>
            <a:pPr algn="l"/>
            <a:r>
              <a:rPr sz="1600" b="0" i="0">
                <a:solidFill>
                  <a:srgbClr val="F5F0E8"/>
                </a:solidFill>
                <a:latin typeface="Calibri"/>
              </a:rPr>
              <a:t>Análisis estratégico para tienda e-commerce de tabaco en Chile</a:t>
            </a:r>
          </a:p>
        </p:txBody>
      </p:sp>
      <p:sp>
        <p:nvSpPr>
          <p:cNvPr id="7" name="Rectangle 6"/>
          <p:cNvSpPr/>
          <p:nvPr/>
        </p:nvSpPr>
        <p:spPr>
          <a:xfrm>
            <a:off x="914400" y="3749039"/>
            <a:ext cx="3657600" cy="36576"/>
          </a:xfrm>
          <a:prstGeom prst="rect">
            <a:avLst/>
          </a:prstGeom>
          <a:solidFill>
            <a:srgbClr val="8B6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3931920"/>
            <a:ext cx="10058400" cy="365760"/>
          </a:xfrm>
          <a:prstGeom prst="rect">
            <a:avLst/>
          </a:prstGeom>
          <a:noFill/>
        </p:spPr>
        <p:txBody>
          <a:bodyPr wrap="square">
            <a:spAutoFit/>
          </a:bodyPr>
          <a:lstStyle/>
          <a:p>
            <a:pPr algn="l"/>
            <a:r>
              <a:rPr sz="1200" b="0" i="0">
                <a:solidFill>
                  <a:srgbClr val="959BA3"/>
                </a:solidFill>
                <a:latin typeface="Calibri"/>
              </a:rPr>
              <a:t>NIC.cl  ·  Disponibilidad verificada  ·  Marzo 2026</a:t>
            </a:r>
          </a:p>
        </p:txBody>
      </p:sp>
      <p:sp>
        <p:nvSpPr>
          <p:cNvPr id="9" name="TextBox 8"/>
          <p:cNvSpPr txBox="1"/>
          <p:nvPr/>
        </p:nvSpPr>
        <p:spPr>
          <a:xfrm>
            <a:off x="548640" y="6126480"/>
            <a:ext cx="6400800" cy="365760"/>
          </a:xfrm>
          <a:prstGeom prst="rect">
            <a:avLst/>
          </a:prstGeom>
          <a:noFill/>
        </p:spPr>
        <p:txBody>
          <a:bodyPr wrap="square">
            <a:spAutoFit/>
          </a:bodyPr>
          <a:lstStyle/>
          <a:p>
            <a:pPr algn="l"/>
            <a:r>
              <a:rPr sz="1100" b="0" i="0">
                <a:solidFill>
                  <a:srgbClr val="1A1A1A"/>
                </a:solidFill>
                <a:latin typeface="Calibri"/>
              </a:rPr>
              <a:t>Proyecto: e-Commerce Tabaquería Chile</a:t>
            </a:r>
          </a:p>
        </p:txBody>
      </p:sp>
      <p:sp>
        <p:nvSpPr>
          <p:cNvPr id="10" name="TextBox 9"/>
          <p:cNvSpPr txBox="1"/>
          <p:nvPr/>
        </p:nvSpPr>
        <p:spPr>
          <a:xfrm>
            <a:off x="9144000" y="6080760"/>
            <a:ext cx="2560320" cy="457200"/>
          </a:xfrm>
          <a:prstGeom prst="rect">
            <a:avLst/>
          </a:prstGeom>
          <a:noFill/>
        </p:spPr>
        <p:txBody>
          <a:bodyPr wrap="square">
            <a:spAutoFit/>
          </a:bodyPr>
          <a:lstStyle/>
          <a:p>
            <a:pPr algn="r"/>
            <a:r>
              <a:rPr sz="1400" b="1" i="0">
                <a:solidFill>
                  <a:srgbClr val="8B6914"/>
                </a:solidFill>
                <a:latin typeface="Georgia"/>
              </a:rPr>
              <a:t>Ezra Torres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0E8"/>
        </a:solidFill>
        <a:effectLst/>
      </p:bgPr>
    </p:bg>
    <p:spTree>
      <p:nvGrpSpPr>
        <p:cNvPr id="1" name=""/>
        <p:cNvGrpSpPr/>
        <p:nvPr/>
      </p:nvGrpSpPr>
      <p:grpSpPr/>
      <p:sp>
        <p:nvSpPr>
          <p:cNvPr id="2" name="Rectangle 1"/>
          <p:cNvSpPr/>
          <p:nvPr/>
        </p:nvSpPr>
        <p:spPr>
          <a:xfrm>
            <a:off x="0" y="0"/>
            <a:ext cx="411480" cy="6858000"/>
          </a:xfrm>
          <a:prstGeom prst="rect">
            <a:avLst/>
          </a:prstGeom>
          <a:solidFill>
            <a:srgbClr val="8B6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11480" y="0"/>
            <a:ext cx="11777472" cy="59436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10972800" cy="411480"/>
          </a:xfrm>
          <a:prstGeom prst="rect">
            <a:avLst/>
          </a:prstGeom>
          <a:noFill/>
        </p:spPr>
        <p:txBody>
          <a:bodyPr wrap="square">
            <a:spAutoFit/>
          </a:bodyPr>
          <a:lstStyle/>
          <a:p>
            <a:pPr algn="l"/>
            <a:r>
              <a:rPr sz="2000" b="1" i="0">
                <a:solidFill>
                  <a:srgbClr val="F5F0E8"/>
                </a:solidFill>
                <a:latin typeface="Georgia"/>
              </a:rPr>
              <a:t>Contexto de busqueda en Chile</a:t>
            </a:r>
          </a:p>
        </p:txBody>
      </p:sp>
      <p:sp>
        <p:nvSpPr>
          <p:cNvPr id="5" name="Rectangle 4"/>
          <p:cNvSpPr/>
          <p:nvPr/>
        </p:nvSpPr>
        <p:spPr>
          <a:xfrm>
            <a:off x="731520" y="868680"/>
            <a:ext cx="5029200" cy="292608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960120"/>
            <a:ext cx="4846320" cy="1188720"/>
          </a:xfrm>
          <a:prstGeom prst="rect">
            <a:avLst/>
          </a:prstGeom>
          <a:noFill/>
        </p:spPr>
        <p:txBody>
          <a:bodyPr wrap="square">
            <a:spAutoFit/>
          </a:bodyPr>
          <a:lstStyle/>
          <a:p>
            <a:pPr algn="ctr"/>
            <a:r>
              <a:rPr sz="3800" b="1" i="0">
                <a:solidFill>
                  <a:srgbClr val="8B6914"/>
                </a:solidFill>
                <a:latin typeface="Georgia"/>
              </a:rPr>
              <a:t>"tabaco
para armar"</a:t>
            </a:r>
          </a:p>
        </p:txBody>
      </p:sp>
      <p:sp>
        <p:nvSpPr>
          <p:cNvPr id="7" name="TextBox 6"/>
          <p:cNvSpPr txBox="1"/>
          <p:nvPr/>
        </p:nvSpPr>
        <p:spPr>
          <a:xfrm>
            <a:off x="822960" y="2194560"/>
            <a:ext cx="4846320" cy="640080"/>
          </a:xfrm>
          <a:prstGeom prst="rect">
            <a:avLst/>
          </a:prstGeom>
          <a:noFill/>
        </p:spPr>
        <p:txBody>
          <a:bodyPr wrap="square">
            <a:spAutoFit/>
          </a:bodyPr>
          <a:lstStyle/>
          <a:p>
            <a:pPr algn="ctr"/>
            <a:r>
              <a:rPr sz="1500" b="0" i="0">
                <a:solidFill>
                  <a:srgbClr val="F5F0E8"/>
                </a:solidFill>
                <a:latin typeface="Calibri"/>
              </a:rPr>
              <a:t>El termino mas buscado
en Chile para este rubro</a:t>
            </a:r>
          </a:p>
        </p:txBody>
      </p:sp>
      <p:sp>
        <p:nvSpPr>
          <p:cNvPr id="8" name="TextBox 7"/>
          <p:cNvSpPr txBox="1"/>
          <p:nvPr/>
        </p:nvSpPr>
        <p:spPr>
          <a:xfrm>
            <a:off x="822960" y="2880360"/>
            <a:ext cx="4846320" cy="320040"/>
          </a:xfrm>
          <a:prstGeom prst="rect">
            <a:avLst/>
          </a:prstGeom>
          <a:noFill/>
        </p:spPr>
        <p:txBody>
          <a:bodyPr wrap="square">
            <a:spAutoFit/>
          </a:bodyPr>
          <a:lstStyle/>
          <a:p>
            <a:pPr algn="ctr"/>
            <a:r>
              <a:rPr sz="1000" b="0" i="1">
                <a:solidFill>
                  <a:srgbClr val="8B6914"/>
                </a:solidFill>
                <a:latin typeface="Calibri"/>
              </a:rPr>
              <a:t>En Chile se dice 'armar', no 'liar' (termino de Espana)</a:t>
            </a:r>
          </a:p>
        </p:txBody>
      </p:sp>
      <p:sp>
        <p:nvSpPr>
          <p:cNvPr id="9" name="Rectangle 8"/>
          <p:cNvSpPr/>
          <p:nvPr/>
        </p:nvSpPr>
        <p:spPr>
          <a:xfrm>
            <a:off x="6035040" y="960120"/>
            <a:ext cx="576072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035040" y="960120"/>
            <a:ext cx="73152" cy="960120"/>
          </a:xfrm>
          <a:prstGeom prst="rect">
            <a:avLst/>
          </a:prstGeom>
          <a:solidFill>
            <a:srgbClr val="8B6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63640" y="1033272"/>
            <a:ext cx="5394960" cy="274320"/>
          </a:xfrm>
          <a:prstGeom prst="rect">
            <a:avLst/>
          </a:prstGeom>
          <a:noFill/>
        </p:spPr>
        <p:txBody>
          <a:bodyPr wrap="square">
            <a:spAutoFit/>
          </a:bodyPr>
          <a:lstStyle/>
          <a:p>
            <a:pPr algn="l"/>
            <a:r>
              <a:rPr sz="1300" b="1" i="0">
                <a:solidFill>
                  <a:srgbClr val="1A1A1A"/>
                </a:solidFill>
                <a:latin typeface="Calibri"/>
              </a:rPr>
              <a:t>SEO inmediato</a:t>
            </a:r>
          </a:p>
        </p:txBody>
      </p:sp>
      <p:sp>
        <p:nvSpPr>
          <p:cNvPr id="12" name="TextBox 11"/>
          <p:cNvSpPr txBox="1"/>
          <p:nvPr/>
        </p:nvSpPr>
        <p:spPr>
          <a:xfrm>
            <a:off x="6263640" y="1307592"/>
            <a:ext cx="5394960" cy="548640"/>
          </a:xfrm>
          <a:prstGeom prst="rect">
            <a:avLst/>
          </a:prstGeom>
          <a:noFill/>
        </p:spPr>
        <p:txBody>
          <a:bodyPr wrap="square">
            <a:spAutoFit/>
          </a:bodyPr>
          <a:lstStyle/>
          <a:p>
            <a:pPr algn="l"/>
            <a:r>
              <a:rPr sz="1100" b="0" i="0">
                <a:solidFill>
                  <a:srgbClr val="444444"/>
                </a:solidFill>
                <a:latin typeface="Calibri"/>
              </a:rPr>
              <a:t>'tabaco para armar' y 'tabaco granel' generan trafico organico desde el dia 1 sin campanas pagadas.</a:t>
            </a:r>
          </a:p>
        </p:txBody>
      </p:sp>
      <p:sp>
        <p:nvSpPr>
          <p:cNvPr id="13" name="Rectangle 12"/>
          <p:cNvSpPr/>
          <p:nvPr/>
        </p:nvSpPr>
        <p:spPr>
          <a:xfrm>
            <a:off x="6035040" y="2057400"/>
            <a:ext cx="576072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035040" y="2057400"/>
            <a:ext cx="73152" cy="960120"/>
          </a:xfrm>
          <a:prstGeom prst="rect">
            <a:avLst/>
          </a:prstGeom>
          <a:solidFill>
            <a:srgbClr val="8B6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63640" y="2130552"/>
            <a:ext cx="5394960" cy="274320"/>
          </a:xfrm>
          <a:prstGeom prst="rect">
            <a:avLst/>
          </a:prstGeom>
          <a:noFill/>
        </p:spPr>
        <p:txBody>
          <a:bodyPr wrap="square">
            <a:spAutoFit/>
          </a:bodyPr>
          <a:lstStyle/>
          <a:p>
            <a:pPr algn="l"/>
            <a:r>
              <a:rPr sz="1300" b="1" i="0">
                <a:solidFill>
                  <a:srgbClr val="1A1A1A"/>
                </a:solidFill>
                <a:latin typeface="Calibri"/>
              </a:rPr>
              <a:t>Recordabilidad</a:t>
            </a:r>
          </a:p>
        </p:txBody>
      </p:sp>
      <p:sp>
        <p:nvSpPr>
          <p:cNvPr id="16" name="TextBox 15"/>
          <p:cNvSpPr txBox="1"/>
          <p:nvPr/>
        </p:nvSpPr>
        <p:spPr>
          <a:xfrm>
            <a:off x="6263640" y="2404872"/>
            <a:ext cx="5394960" cy="548640"/>
          </a:xfrm>
          <a:prstGeom prst="rect">
            <a:avLst/>
          </a:prstGeom>
          <a:noFill/>
        </p:spPr>
        <p:txBody>
          <a:bodyPr wrap="square">
            <a:spAutoFit/>
          </a:bodyPr>
          <a:lstStyle/>
          <a:p>
            <a:pPr algn="l"/>
            <a:r>
              <a:rPr sz="1100" b="0" i="0">
                <a:solidFill>
                  <a:srgbClr val="444444"/>
                </a:solidFill>
                <a:latin typeface="Calibri"/>
              </a:rPr>
              <a:t>Los usuarios chilenos buscan exactamente ese termino. El dominio refleja su busqueda natural.</a:t>
            </a:r>
          </a:p>
        </p:txBody>
      </p:sp>
      <p:sp>
        <p:nvSpPr>
          <p:cNvPr id="17" name="Rectangle 16"/>
          <p:cNvSpPr/>
          <p:nvPr/>
        </p:nvSpPr>
        <p:spPr>
          <a:xfrm>
            <a:off x="6035040" y="3154680"/>
            <a:ext cx="576072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035040" y="3154680"/>
            <a:ext cx="73152" cy="960120"/>
          </a:xfrm>
          <a:prstGeom prst="rect">
            <a:avLst/>
          </a:prstGeom>
          <a:solidFill>
            <a:srgbClr val="8B6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63640" y="3227832"/>
            <a:ext cx="5394960" cy="274320"/>
          </a:xfrm>
          <a:prstGeom prst="rect">
            <a:avLst/>
          </a:prstGeom>
          <a:noFill/>
        </p:spPr>
        <p:txBody>
          <a:bodyPr wrap="square">
            <a:spAutoFit/>
          </a:bodyPr>
          <a:lstStyle/>
          <a:p>
            <a:pPr algn="l"/>
            <a:r>
              <a:rPr sz="1300" b="1" i="0">
                <a:solidFill>
                  <a:srgbClr val="1A1A1A"/>
                </a:solidFill>
                <a:latin typeface="Calibri"/>
              </a:rPr>
              <a:t>Ventaja competitiva</a:t>
            </a:r>
          </a:p>
        </p:txBody>
      </p:sp>
      <p:sp>
        <p:nvSpPr>
          <p:cNvPr id="20" name="TextBox 19"/>
          <p:cNvSpPr txBox="1"/>
          <p:nvPr/>
        </p:nvSpPr>
        <p:spPr>
          <a:xfrm>
            <a:off x="6263640" y="3502152"/>
            <a:ext cx="5394960" cy="548640"/>
          </a:xfrm>
          <a:prstGeom prst="rect">
            <a:avLst/>
          </a:prstGeom>
          <a:noFill/>
        </p:spPr>
        <p:txBody>
          <a:bodyPr wrap="square">
            <a:spAutoFit/>
          </a:bodyPr>
          <a:lstStyle/>
          <a:p>
            <a:pPr algn="l"/>
            <a:r>
              <a:rPr sz="1100" b="0" i="0">
                <a:solidFill>
                  <a:srgbClr val="444444"/>
                </a:solidFill>
                <a:latin typeface="Calibri"/>
              </a:rPr>
              <a:t>Las 3 opciones propuestas incluyen 'tabaco' y estan disponibles. La competencia no las tiene.</a:t>
            </a:r>
          </a:p>
        </p:txBody>
      </p:sp>
      <p:sp>
        <p:nvSpPr>
          <p:cNvPr id="21" name="Rectangle 20"/>
          <p:cNvSpPr/>
          <p:nvPr/>
        </p:nvSpPr>
        <p:spPr>
          <a:xfrm>
            <a:off x="411480" y="6492240"/>
            <a:ext cx="11777472" cy="45720"/>
          </a:xfrm>
          <a:prstGeom prst="rect">
            <a:avLst/>
          </a:prstGeom>
          <a:solidFill>
            <a:srgbClr val="8B6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Rectangle 1"/>
          <p:cNvSpPr/>
          <p:nvPr/>
        </p:nvSpPr>
        <p:spPr>
          <a:xfrm>
            <a:off x="0" y="0"/>
            <a:ext cx="411480" cy="6858000"/>
          </a:xfrm>
          <a:prstGeom prst="rect">
            <a:avLst/>
          </a:prstGeom>
          <a:solidFill>
            <a:srgbClr val="8B6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11480" y="0"/>
            <a:ext cx="11777472" cy="594360"/>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10972800" cy="411480"/>
          </a:xfrm>
          <a:prstGeom prst="rect">
            <a:avLst/>
          </a:prstGeom>
          <a:noFill/>
        </p:spPr>
        <p:txBody>
          <a:bodyPr wrap="square">
            <a:spAutoFit/>
          </a:bodyPr>
          <a:lstStyle/>
          <a:p>
            <a:pPr algn="l"/>
            <a:r>
              <a:rPr sz="2000" b="1" i="0">
                <a:solidFill>
                  <a:srgbClr val="F5F0E8"/>
                </a:solidFill>
                <a:latin typeface="Georgia"/>
              </a:rPr>
              <a:t>Como habla el mercado chileno</a:t>
            </a:r>
          </a:p>
        </p:txBody>
      </p:sp>
      <p:sp>
        <p:nvSpPr>
          <p:cNvPr id="5" name="Rectangle 4"/>
          <p:cNvSpPr/>
          <p:nvPr/>
        </p:nvSpPr>
        <p:spPr>
          <a:xfrm>
            <a:off x="640080" y="749808"/>
            <a:ext cx="5303520" cy="384048"/>
          </a:xfrm>
          <a:prstGeom prst="rect">
            <a:avLst/>
          </a:prstGeom>
          <a:solidFill>
            <a:srgbClr val="8B6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795528"/>
            <a:ext cx="5212080" cy="292608"/>
          </a:xfrm>
          <a:prstGeom prst="rect">
            <a:avLst/>
          </a:prstGeom>
          <a:noFill/>
        </p:spPr>
        <p:txBody>
          <a:bodyPr wrap="square">
            <a:spAutoFit/>
          </a:bodyPr>
          <a:lstStyle/>
          <a:p>
            <a:pPr algn="l"/>
            <a:r>
              <a:rPr sz="1300" b="1" i="0">
                <a:solidFill>
                  <a:srgbClr val="1A1A1A"/>
                </a:solidFill>
                <a:latin typeface="Calibri"/>
              </a:rPr>
              <a:t>Terminos de producto</a:t>
            </a:r>
          </a:p>
        </p:txBody>
      </p:sp>
      <p:sp>
        <p:nvSpPr>
          <p:cNvPr id="7" name="Rectangle 6"/>
          <p:cNvSpPr/>
          <p:nvPr/>
        </p:nvSpPr>
        <p:spPr>
          <a:xfrm>
            <a:off x="640080" y="1261872"/>
            <a:ext cx="5303520" cy="594360"/>
          </a:xfrm>
          <a:prstGeom prst="rect">
            <a:avLst/>
          </a:prstGeom>
          <a:solidFill>
            <a:srgbClr val="28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417319"/>
            <a:ext cx="2560320" cy="320040"/>
          </a:xfrm>
          <a:prstGeom prst="rect">
            <a:avLst/>
          </a:prstGeom>
          <a:noFill/>
        </p:spPr>
        <p:txBody>
          <a:bodyPr wrap="square">
            <a:spAutoFit/>
          </a:bodyPr>
          <a:lstStyle/>
          <a:p>
            <a:pPr algn="l"/>
            <a:r>
              <a:rPr sz="1200" b="1" i="0">
                <a:solidFill>
                  <a:srgbClr val="8B6914"/>
                </a:solidFill>
                <a:latin typeface="Calibri"/>
              </a:rPr>
              <a:t>tabaco para armar</a:t>
            </a:r>
          </a:p>
        </p:txBody>
      </p:sp>
      <p:sp>
        <p:nvSpPr>
          <p:cNvPr id="9" name="TextBox 8"/>
          <p:cNvSpPr txBox="1"/>
          <p:nvPr/>
        </p:nvSpPr>
        <p:spPr>
          <a:xfrm>
            <a:off x="3383280" y="1417319"/>
            <a:ext cx="2377440" cy="320040"/>
          </a:xfrm>
          <a:prstGeom prst="rect">
            <a:avLst/>
          </a:prstGeom>
          <a:noFill/>
        </p:spPr>
        <p:txBody>
          <a:bodyPr wrap="square">
            <a:spAutoFit/>
          </a:bodyPr>
          <a:lstStyle/>
          <a:p>
            <a:pPr algn="r"/>
            <a:r>
              <a:rPr sz="1300" b="0" i="0">
                <a:solidFill>
                  <a:srgbClr val="8B6914"/>
                </a:solidFill>
                <a:latin typeface="Calibri"/>
              </a:rPr>
              <a:t>★★★★★</a:t>
            </a:r>
          </a:p>
        </p:txBody>
      </p:sp>
      <p:sp>
        <p:nvSpPr>
          <p:cNvPr id="10" name="Rectangle 9"/>
          <p:cNvSpPr/>
          <p:nvPr/>
        </p:nvSpPr>
        <p:spPr>
          <a:xfrm>
            <a:off x="640080" y="1947672"/>
            <a:ext cx="5303520" cy="594360"/>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2103120"/>
            <a:ext cx="2560320" cy="320040"/>
          </a:xfrm>
          <a:prstGeom prst="rect">
            <a:avLst/>
          </a:prstGeom>
          <a:noFill/>
        </p:spPr>
        <p:txBody>
          <a:bodyPr wrap="square">
            <a:spAutoFit/>
          </a:bodyPr>
          <a:lstStyle/>
          <a:p>
            <a:pPr algn="l"/>
            <a:r>
              <a:rPr sz="1200" b="1" i="0">
                <a:solidFill>
                  <a:srgbClr val="8B6914"/>
                </a:solidFill>
                <a:latin typeface="Calibri"/>
              </a:rPr>
              <a:t>tabaco granel</a:t>
            </a:r>
          </a:p>
        </p:txBody>
      </p:sp>
      <p:sp>
        <p:nvSpPr>
          <p:cNvPr id="12" name="TextBox 11"/>
          <p:cNvSpPr txBox="1"/>
          <p:nvPr/>
        </p:nvSpPr>
        <p:spPr>
          <a:xfrm>
            <a:off x="3383280" y="2103120"/>
            <a:ext cx="2377440" cy="320040"/>
          </a:xfrm>
          <a:prstGeom prst="rect">
            <a:avLst/>
          </a:prstGeom>
          <a:noFill/>
        </p:spPr>
        <p:txBody>
          <a:bodyPr wrap="square">
            <a:spAutoFit/>
          </a:bodyPr>
          <a:lstStyle/>
          <a:p>
            <a:pPr algn="r"/>
            <a:r>
              <a:rPr sz="1300" b="0" i="0">
                <a:solidFill>
                  <a:srgbClr val="8B6914"/>
                </a:solidFill>
                <a:latin typeface="Calibri"/>
              </a:rPr>
              <a:t>★★★★★</a:t>
            </a:r>
          </a:p>
        </p:txBody>
      </p:sp>
      <p:sp>
        <p:nvSpPr>
          <p:cNvPr id="13" name="Rectangle 12"/>
          <p:cNvSpPr/>
          <p:nvPr/>
        </p:nvSpPr>
        <p:spPr>
          <a:xfrm>
            <a:off x="640080" y="2633472"/>
            <a:ext cx="5303520" cy="594360"/>
          </a:xfrm>
          <a:prstGeom prst="rect">
            <a:avLst/>
          </a:prstGeom>
          <a:solidFill>
            <a:srgbClr val="28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788920"/>
            <a:ext cx="2560320" cy="320040"/>
          </a:xfrm>
          <a:prstGeom prst="rect">
            <a:avLst/>
          </a:prstGeom>
          <a:noFill/>
        </p:spPr>
        <p:txBody>
          <a:bodyPr wrap="square">
            <a:spAutoFit/>
          </a:bodyPr>
          <a:lstStyle/>
          <a:p>
            <a:pPr algn="l"/>
            <a:r>
              <a:rPr sz="1200" b="1" i="0">
                <a:solidFill>
                  <a:srgbClr val="8B6914"/>
                </a:solidFill>
                <a:latin typeface="Calibri"/>
              </a:rPr>
              <a:t>papelillos</a:t>
            </a:r>
          </a:p>
        </p:txBody>
      </p:sp>
      <p:sp>
        <p:nvSpPr>
          <p:cNvPr id="15" name="TextBox 14"/>
          <p:cNvSpPr txBox="1"/>
          <p:nvPr/>
        </p:nvSpPr>
        <p:spPr>
          <a:xfrm>
            <a:off x="3383280" y="2788920"/>
            <a:ext cx="2377440" cy="320040"/>
          </a:xfrm>
          <a:prstGeom prst="rect">
            <a:avLst/>
          </a:prstGeom>
          <a:noFill/>
        </p:spPr>
        <p:txBody>
          <a:bodyPr wrap="square">
            <a:spAutoFit/>
          </a:bodyPr>
          <a:lstStyle/>
          <a:p>
            <a:pPr algn="r"/>
            <a:r>
              <a:rPr sz="1300" b="0" i="0">
                <a:solidFill>
                  <a:srgbClr val="8B6914"/>
                </a:solidFill>
                <a:latin typeface="Calibri"/>
              </a:rPr>
              <a:t>★★★★★</a:t>
            </a:r>
          </a:p>
        </p:txBody>
      </p:sp>
      <p:sp>
        <p:nvSpPr>
          <p:cNvPr id="16" name="Rectangle 15"/>
          <p:cNvSpPr/>
          <p:nvPr/>
        </p:nvSpPr>
        <p:spPr>
          <a:xfrm>
            <a:off x="640080" y="3319272"/>
            <a:ext cx="5303520" cy="594360"/>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3474720"/>
            <a:ext cx="2560320" cy="320040"/>
          </a:xfrm>
          <a:prstGeom prst="rect">
            <a:avLst/>
          </a:prstGeom>
          <a:noFill/>
        </p:spPr>
        <p:txBody>
          <a:bodyPr wrap="square">
            <a:spAutoFit/>
          </a:bodyPr>
          <a:lstStyle/>
          <a:p>
            <a:pPr algn="l"/>
            <a:r>
              <a:rPr sz="1200" b="0" i="0">
                <a:solidFill>
                  <a:srgbClr val="F5F0E8"/>
                </a:solidFill>
                <a:latin typeface="Calibri"/>
              </a:rPr>
              <a:t>pucho</a:t>
            </a:r>
          </a:p>
        </p:txBody>
      </p:sp>
      <p:sp>
        <p:nvSpPr>
          <p:cNvPr id="18" name="TextBox 17"/>
          <p:cNvSpPr txBox="1"/>
          <p:nvPr/>
        </p:nvSpPr>
        <p:spPr>
          <a:xfrm>
            <a:off x="3383280" y="3474720"/>
            <a:ext cx="2377440" cy="320040"/>
          </a:xfrm>
          <a:prstGeom prst="rect">
            <a:avLst/>
          </a:prstGeom>
          <a:noFill/>
        </p:spPr>
        <p:txBody>
          <a:bodyPr wrap="square">
            <a:spAutoFit/>
          </a:bodyPr>
          <a:lstStyle/>
          <a:p>
            <a:pPr algn="r"/>
            <a:r>
              <a:rPr sz="1300" b="0" i="0">
                <a:solidFill>
                  <a:srgbClr val="8B6914"/>
                </a:solidFill>
                <a:latin typeface="Calibri"/>
              </a:rPr>
              <a:t>★★★★☆</a:t>
            </a:r>
          </a:p>
        </p:txBody>
      </p:sp>
      <p:sp>
        <p:nvSpPr>
          <p:cNvPr id="19" name="Rectangle 18"/>
          <p:cNvSpPr/>
          <p:nvPr/>
        </p:nvSpPr>
        <p:spPr>
          <a:xfrm>
            <a:off x="640080" y="4005072"/>
            <a:ext cx="5303520" cy="594360"/>
          </a:xfrm>
          <a:prstGeom prst="rect">
            <a:avLst/>
          </a:prstGeom>
          <a:solidFill>
            <a:srgbClr val="28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4160520"/>
            <a:ext cx="2560320" cy="320040"/>
          </a:xfrm>
          <a:prstGeom prst="rect">
            <a:avLst/>
          </a:prstGeom>
          <a:noFill/>
        </p:spPr>
        <p:txBody>
          <a:bodyPr wrap="square">
            <a:spAutoFit/>
          </a:bodyPr>
          <a:lstStyle/>
          <a:p>
            <a:pPr algn="l"/>
            <a:r>
              <a:rPr sz="1200" b="0" i="0">
                <a:solidFill>
                  <a:srgbClr val="F5F0E8"/>
                </a:solidFill>
                <a:latin typeface="Calibri"/>
              </a:rPr>
              <a:t>cigarro artesanal</a:t>
            </a:r>
          </a:p>
        </p:txBody>
      </p:sp>
      <p:sp>
        <p:nvSpPr>
          <p:cNvPr id="21" name="TextBox 20"/>
          <p:cNvSpPr txBox="1"/>
          <p:nvPr/>
        </p:nvSpPr>
        <p:spPr>
          <a:xfrm>
            <a:off x="3383280" y="4160520"/>
            <a:ext cx="2377440" cy="320040"/>
          </a:xfrm>
          <a:prstGeom prst="rect">
            <a:avLst/>
          </a:prstGeom>
          <a:noFill/>
        </p:spPr>
        <p:txBody>
          <a:bodyPr wrap="square">
            <a:spAutoFit/>
          </a:bodyPr>
          <a:lstStyle/>
          <a:p>
            <a:pPr algn="r"/>
            <a:r>
              <a:rPr sz="1300" b="0" i="0">
                <a:solidFill>
                  <a:srgbClr val="8B6914"/>
                </a:solidFill>
                <a:latin typeface="Calibri"/>
              </a:rPr>
              <a:t>★★★☆☆</a:t>
            </a:r>
          </a:p>
        </p:txBody>
      </p:sp>
      <p:sp>
        <p:nvSpPr>
          <p:cNvPr id="22" name="Rectangle 21"/>
          <p:cNvSpPr/>
          <p:nvPr/>
        </p:nvSpPr>
        <p:spPr>
          <a:xfrm>
            <a:off x="640080" y="4690872"/>
            <a:ext cx="5303520" cy="594360"/>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 y="4846320"/>
            <a:ext cx="2560320" cy="320040"/>
          </a:xfrm>
          <a:prstGeom prst="rect">
            <a:avLst/>
          </a:prstGeom>
          <a:noFill/>
        </p:spPr>
        <p:txBody>
          <a:bodyPr wrap="square">
            <a:spAutoFit/>
          </a:bodyPr>
          <a:lstStyle/>
          <a:p>
            <a:pPr algn="l"/>
            <a:r>
              <a:rPr sz="1200" b="0" i="0">
                <a:solidFill>
                  <a:srgbClr val="F5F0E8"/>
                </a:solidFill>
                <a:latin typeface="Calibri"/>
              </a:rPr>
              <a:t>tabaco para liar</a:t>
            </a:r>
          </a:p>
        </p:txBody>
      </p:sp>
      <p:sp>
        <p:nvSpPr>
          <p:cNvPr id="24" name="TextBox 23"/>
          <p:cNvSpPr txBox="1"/>
          <p:nvPr/>
        </p:nvSpPr>
        <p:spPr>
          <a:xfrm>
            <a:off x="3383280" y="4846320"/>
            <a:ext cx="2377440" cy="320040"/>
          </a:xfrm>
          <a:prstGeom prst="rect">
            <a:avLst/>
          </a:prstGeom>
          <a:noFill/>
        </p:spPr>
        <p:txBody>
          <a:bodyPr wrap="square">
            <a:spAutoFit/>
          </a:bodyPr>
          <a:lstStyle/>
          <a:p>
            <a:pPr algn="r"/>
            <a:r>
              <a:rPr sz="1300" b="0" i="0">
                <a:solidFill>
                  <a:srgbClr val="8B6914"/>
                </a:solidFill>
                <a:latin typeface="Calibri"/>
              </a:rPr>
              <a:t>★★☆☆☆</a:t>
            </a:r>
          </a:p>
        </p:txBody>
      </p:sp>
      <p:sp>
        <p:nvSpPr>
          <p:cNvPr id="25" name="Rectangle 24"/>
          <p:cNvSpPr/>
          <p:nvPr/>
        </p:nvSpPr>
        <p:spPr>
          <a:xfrm>
            <a:off x="6309360" y="749808"/>
            <a:ext cx="5486400" cy="384048"/>
          </a:xfrm>
          <a:prstGeom prst="rect">
            <a:avLst/>
          </a:prstGeom>
          <a:solidFill>
            <a:srgbClr val="5C46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55080" y="795528"/>
            <a:ext cx="5394960" cy="292608"/>
          </a:xfrm>
          <a:prstGeom prst="rect">
            <a:avLst/>
          </a:prstGeom>
          <a:noFill/>
        </p:spPr>
        <p:txBody>
          <a:bodyPr wrap="square">
            <a:spAutoFit/>
          </a:bodyPr>
          <a:lstStyle/>
          <a:p>
            <a:pPr algn="l"/>
            <a:r>
              <a:rPr sz="1300" b="1" i="0">
                <a:solidFill>
                  <a:srgbClr val="F5F0E8"/>
                </a:solidFill>
                <a:latin typeface="Calibri"/>
              </a:rPr>
              <a:t>Accesorios  ("parafernalia")</a:t>
            </a:r>
          </a:p>
        </p:txBody>
      </p:sp>
      <p:sp>
        <p:nvSpPr>
          <p:cNvPr id="27" name="Rectangle 26"/>
          <p:cNvSpPr/>
          <p:nvPr/>
        </p:nvSpPr>
        <p:spPr>
          <a:xfrm>
            <a:off x="6309360" y="1261872"/>
            <a:ext cx="5486400" cy="594360"/>
          </a:xfrm>
          <a:prstGeom prst="rect">
            <a:avLst/>
          </a:prstGeom>
          <a:solidFill>
            <a:srgbClr val="28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46520" y="1417319"/>
            <a:ext cx="2926080" cy="320040"/>
          </a:xfrm>
          <a:prstGeom prst="rect">
            <a:avLst/>
          </a:prstGeom>
          <a:noFill/>
        </p:spPr>
        <p:txBody>
          <a:bodyPr wrap="square">
            <a:spAutoFit/>
          </a:bodyPr>
          <a:lstStyle/>
          <a:p>
            <a:pPr algn="l"/>
            <a:r>
              <a:rPr sz="1200" b="1" i="0">
                <a:solidFill>
                  <a:srgbClr val="8B6914"/>
                </a:solidFill>
                <a:latin typeface="Calibri"/>
              </a:rPr>
              <a:t>papelillos</a:t>
            </a:r>
          </a:p>
        </p:txBody>
      </p:sp>
      <p:sp>
        <p:nvSpPr>
          <p:cNvPr id="29" name="TextBox 28"/>
          <p:cNvSpPr txBox="1"/>
          <p:nvPr/>
        </p:nvSpPr>
        <p:spPr>
          <a:xfrm>
            <a:off x="9326880" y="1417319"/>
            <a:ext cx="2286000" cy="320040"/>
          </a:xfrm>
          <a:prstGeom prst="rect">
            <a:avLst/>
          </a:prstGeom>
          <a:noFill/>
        </p:spPr>
        <p:txBody>
          <a:bodyPr wrap="square">
            <a:spAutoFit/>
          </a:bodyPr>
          <a:lstStyle/>
          <a:p>
            <a:pPr algn="r"/>
            <a:r>
              <a:rPr sz="1300" b="0" i="0">
                <a:solidFill>
                  <a:srgbClr val="8B6914"/>
                </a:solidFill>
                <a:latin typeface="Calibri"/>
              </a:rPr>
              <a:t>★★★★★</a:t>
            </a:r>
          </a:p>
        </p:txBody>
      </p:sp>
      <p:sp>
        <p:nvSpPr>
          <p:cNvPr id="30" name="Rectangle 29"/>
          <p:cNvSpPr/>
          <p:nvPr/>
        </p:nvSpPr>
        <p:spPr>
          <a:xfrm>
            <a:off x="6309360" y="1947672"/>
            <a:ext cx="5486400" cy="594360"/>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46520" y="2103120"/>
            <a:ext cx="2926080" cy="320040"/>
          </a:xfrm>
          <a:prstGeom prst="rect">
            <a:avLst/>
          </a:prstGeom>
          <a:noFill/>
        </p:spPr>
        <p:txBody>
          <a:bodyPr wrap="square">
            <a:spAutoFit/>
          </a:bodyPr>
          <a:lstStyle/>
          <a:p>
            <a:pPr algn="l"/>
            <a:r>
              <a:rPr sz="1200" b="0" i="0">
                <a:solidFill>
                  <a:srgbClr val="F5F0E8"/>
                </a:solidFill>
                <a:latin typeface="Calibri"/>
              </a:rPr>
              <a:t>grinder / moledor</a:t>
            </a:r>
          </a:p>
        </p:txBody>
      </p:sp>
      <p:sp>
        <p:nvSpPr>
          <p:cNvPr id="32" name="TextBox 31"/>
          <p:cNvSpPr txBox="1"/>
          <p:nvPr/>
        </p:nvSpPr>
        <p:spPr>
          <a:xfrm>
            <a:off x="9326880" y="2103120"/>
            <a:ext cx="2286000" cy="320040"/>
          </a:xfrm>
          <a:prstGeom prst="rect">
            <a:avLst/>
          </a:prstGeom>
          <a:noFill/>
        </p:spPr>
        <p:txBody>
          <a:bodyPr wrap="square">
            <a:spAutoFit/>
          </a:bodyPr>
          <a:lstStyle/>
          <a:p>
            <a:pPr algn="r"/>
            <a:r>
              <a:rPr sz="1300" b="0" i="0">
                <a:solidFill>
                  <a:srgbClr val="8B6914"/>
                </a:solidFill>
                <a:latin typeface="Calibri"/>
              </a:rPr>
              <a:t>★★★★☆</a:t>
            </a:r>
          </a:p>
        </p:txBody>
      </p:sp>
      <p:sp>
        <p:nvSpPr>
          <p:cNvPr id="33" name="Rectangle 32"/>
          <p:cNvSpPr/>
          <p:nvPr/>
        </p:nvSpPr>
        <p:spPr>
          <a:xfrm>
            <a:off x="6309360" y="2633472"/>
            <a:ext cx="5486400" cy="594360"/>
          </a:xfrm>
          <a:prstGeom prst="rect">
            <a:avLst/>
          </a:prstGeom>
          <a:solidFill>
            <a:srgbClr val="28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46520" y="2788920"/>
            <a:ext cx="2926080" cy="320040"/>
          </a:xfrm>
          <a:prstGeom prst="rect">
            <a:avLst/>
          </a:prstGeom>
          <a:noFill/>
        </p:spPr>
        <p:txBody>
          <a:bodyPr wrap="square">
            <a:spAutoFit/>
          </a:bodyPr>
          <a:lstStyle/>
          <a:p>
            <a:pPr algn="l"/>
            <a:r>
              <a:rPr sz="1200" b="0" i="0">
                <a:solidFill>
                  <a:srgbClr val="F5F0E8"/>
                </a:solidFill>
                <a:latin typeface="Calibri"/>
              </a:rPr>
              <a:t>filtros / boquillas</a:t>
            </a:r>
          </a:p>
        </p:txBody>
      </p:sp>
      <p:sp>
        <p:nvSpPr>
          <p:cNvPr id="35" name="TextBox 34"/>
          <p:cNvSpPr txBox="1"/>
          <p:nvPr/>
        </p:nvSpPr>
        <p:spPr>
          <a:xfrm>
            <a:off x="9326880" y="2788920"/>
            <a:ext cx="2286000" cy="320040"/>
          </a:xfrm>
          <a:prstGeom prst="rect">
            <a:avLst/>
          </a:prstGeom>
          <a:noFill/>
        </p:spPr>
        <p:txBody>
          <a:bodyPr wrap="square">
            <a:spAutoFit/>
          </a:bodyPr>
          <a:lstStyle/>
          <a:p>
            <a:pPr algn="r"/>
            <a:r>
              <a:rPr sz="1300" b="0" i="0">
                <a:solidFill>
                  <a:srgbClr val="8B6914"/>
                </a:solidFill>
                <a:latin typeface="Calibri"/>
              </a:rPr>
              <a:t>★★★★☆</a:t>
            </a:r>
          </a:p>
        </p:txBody>
      </p:sp>
      <p:sp>
        <p:nvSpPr>
          <p:cNvPr id="36" name="Rectangle 35"/>
          <p:cNvSpPr/>
          <p:nvPr/>
        </p:nvSpPr>
        <p:spPr>
          <a:xfrm>
            <a:off x="6309360" y="3319272"/>
            <a:ext cx="5486400" cy="594360"/>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446520" y="3474720"/>
            <a:ext cx="2926080" cy="320040"/>
          </a:xfrm>
          <a:prstGeom prst="rect">
            <a:avLst/>
          </a:prstGeom>
          <a:noFill/>
        </p:spPr>
        <p:txBody>
          <a:bodyPr wrap="square">
            <a:spAutoFit/>
          </a:bodyPr>
          <a:lstStyle/>
          <a:p>
            <a:pPr algn="l"/>
            <a:r>
              <a:rPr sz="1200" b="0" i="0">
                <a:solidFill>
                  <a:srgbClr val="F5F0E8"/>
                </a:solidFill>
                <a:latin typeface="Calibri"/>
              </a:rPr>
              <a:t>enroladora</a:t>
            </a:r>
          </a:p>
        </p:txBody>
      </p:sp>
      <p:sp>
        <p:nvSpPr>
          <p:cNvPr id="38" name="TextBox 37"/>
          <p:cNvSpPr txBox="1"/>
          <p:nvPr/>
        </p:nvSpPr>
        <p:spPr>
          <a:xfrm>
            <a:off x="9326880" y="3474720"/>
            <a:ext cx="2286000" cy="320040"/>
          </a:xfrm>
          <a:prstGeom prst="rect">
            <a:avLst/>
          </a:prstGeom>
          <a:noFill/>
        </p:spPr>
        <p:txBody>
          <a:bodyPr wrap="square">
            <a:spAutoFit/>
          </a:bodyPr>
          <a:lstStyle/>
          <a:p>
            <a:pPr algn="r"/>
            <a:r>
              <a:rPr sz="1300" b="0" i="0">
                <a:solidFill>
                  <a:srgbClr val="8B6914"/>
                </a:solidFill>
                <a:latin typeface="Calibri"/>
              </a:rPr>
              <a:t>★★★☆☆</a:t>
            </a:r>
          </a:p>
        </p:txBody>
      </p:sp>
      <p:sp>
        <p:nvSpPr>
          <p:cNvPr id="39" name="Rectangle 38"/>
          <p:cNvSpPr/>
          <p:nvPr/>
        </p:nvSpPr>
        <p:spPr>
          <a:xfrm>
            <a:off x="6309360" y="4005072"/>
            <a:ext cx="5486400" cy="594360"/>
          </a:xfrm>
          <a:prstGeom prst="rect">
            <a:avLst/>
          </a:prstGeom>
          <a:solidFill>
            <a:srgbClr val="28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446520" y="4160520"/>
            <a:ext cx="2926080" cy="320040"/>
          </a:xfrm>
          <a:prstGeom prst="rect">
            <a:avLst/>
          </a:prstGeom>
          <a:noFill/>
        </p:spPr>
        <p:txBody>
          <a:bodyPr wrap="square">
            <a:spAutoFit/>
          </a:bodyPr>
          <a:lstStyle/>
          <a:p>
            <a:pPr algn="l"/>
            <a:r>
              <a:rPr sz="1200" b="0" i="0">
                <a:solidFill>
                  <a:srgbClr val="F5F0E8"/>
                </a:solidFill>
                <a:latin typeface="Calibri"/>
              </a:rPr>
              <a:t>vaporizador</a:t>
            </a:r>
          </a:p>
        </p:txBody>
      </p:sp>
      <p:sp>
        <p:nvSpPr>
          <p:cNvPr id="41" name="TextBox 40"/>
          <p:cNvSpPr txBox="1"/>
          <p:nvPr/>
        </p:nvSpPr>
        <p:spPr>
          <a:xfrm>
            <a:off x="9326880" y="4160520"/>
            <a:ext cx="2286000" cy="320040"/>
          </a:xfrm>
          <a:prstGeom prst="rect">
            <a:avLst/>
          </a:prstGeom>
          <a:noFill/>
        </p:spPr>
        <p:txBody>
          <a:bodyPr wrap="square">
            <a:spAutoFit/>
          </a:bodyPr>
          <a:lstStyle/>
          <a:p>
            <a:pPr algn="r"/>
            <a:r>
              <a:rPr sz="1300" b="0" i="0">
                <a:solidFill>
                  <a:srgbClr val="8B6914"/>
                </a:solidFill>
                <a:latin typeface="Calibri"/>
              </a:rPr>
              <a:t>★★★☆☆</a:t>
            </a:r>
          </a:p>
        </p:txBody>
      </p:sp>
      <p:sp>
        <p:nvSpPr>
          <p:cNvPr id="42" name="Rectangle 41"/>
          <p:cNvSpPr/>
          <p:nvPr/>
        </p:nvSpPr>
        <p:spPr>
          <a:xfrm>
            <a:off x="6309360" y="4690872"/>
            <a:ext cx="5486400" cy="594360"/>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446520" y="4846320"/>
            <a:ext cx="2926080" cy="320040"/>
          </a:xfrm>
          <a:prstGeom prst="rect">
            <a:avLst/>
          </a:prstGeom>
          <a:noFill/>
        </p:spPr>
        <p:txBody>
          <a:bodyPr wrap="square">
            <a:spAutoFit/>
          </a:bodyPr>
          <a:lstStyle/>
          <a:p>
            <a:pPr algn="l"/>
            <a:r>
              <a:rPr sz="1200" b="0" i="0">
                <a:solidFill>
                  <a:srgbClr val="F5F0E8"/>
                </a:solidFill>
                <a:latin typeface="Calibri"/>
              </a:rPr>
              <a:t>encendedor</a:t>
            </a:r>
          </a:p>
        </p:txBody>
      </p:sp>
      <p:sp>
        <p:nvSpPr>
          <p:cNvPr id="44" name="TextBox 43"/>
          <p:cNvSpPr txBox="1"/>
          <p:nvPr/>
        </p:nvSpPr>
        <p:spPr>
          <a:xfrm>
            <a:off x="9326880" y="4846320"/>
            <a:ext cx="2286000" cy="320040"/>
          </a:xfrm>
          <a:prstGeom prst="rect">
            <a:avLst/>
          </a:prstGeom>
          <a:noFill/>
        </p:spPr>
        <p:txBody>
          <a:bodyPr wrap="square">
            <a:spAutoFit/>
          </a:bodyPr>
          <a:lstStyle/>
          <a:p>
            <a:pPr algn="r"/>
            <a:r>
              <a:rPr sz="1300" b="0" i="0">
                <a:solidFill>
                  <a:srgbClr val="8B6914"/>
                </a:solidFill>
                <a:latin typeface="Calibri"/>
              </a:rPr>
              <a:t>★★★☆☆</a:t>
            </a:r>
          </a:p>
        </p:txBody>
      </p:sp>
      <p:sp>
        <p:nvSpPr>
          <p:cNvPr id="45" name="Rectangle 44"/>
          <p:cNvSpPr/>
          <p:nvPr/>
        </p:nvSpPr>
        <p:spPr>
          <a:xfrm>
            <a:off x="640080" y="5532120"/>
            <a:ext cx="11155680" cy="868680"/>
          </a:xfrm>
          <a:prstGeom prst="rect">
            <a:avLst/>
          </a:prstGeom>
          <a:solidFill>
            <a:srgbClr val="251E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640080" y="5532120"/>
            <a:ext cx="73152" cy="868680"/>
          </a:xfrm>
          <a:prstGeom prst="rect">
            <a:avLst/>
          </a:prstGeom>
          <a:solidFill>
            <a:srgbClr val="8B6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68680" y="5577840"/>
            <a:ext cx="3657600" cy="274320"/>
          </a:xfrm>
          <a:prstGeom prst="rect">
            <a:avLst/>
          </a:prstGeom>
          <a:noFill/>
        </p:spPr>
        <p:txBody>
          <a:bodyPr wrap="square">
            <a:spAutoFit/>
          </a:bodyPr>
          <a:lstStyle/>
          <a:p>
            <a:pPr algn="l"/>
            <a:r>
              <a:rPr sz="1100" b="1" i="0">
                <a:solidFill>
                  <a:srgbClr val="8B6914"/>
                </a:solidFill>
                <a:latin typeface="Calibri"/>
              </a:rPr>
              <a:t>Oportunidad de SEO</a:t>
            </a:r>
          </a:p>
        </p:txBody>
      </p:sp>
      <p:sp>
        <p:nvSpPr>
          <p:cNvPr id="48" name="TextBox 47"/>
          <p:cNvSpPr txBox="1"/>
          <p:nvPr/>
        </p:nvSpPr>
        <p:spPr>
          <a:xfrm>
            <a:off x="868680" y="5852160"/>
            <a:ext cx="10789920" cy="457200"/>
          </a:xfrm>
          <a:prstGeom prst="rect">
            <a:avLst/>
          </a:prstGeom>
          <a:noFill/>
        </p:spPr>
        <p:txBody>
          <a:bodyPr wrap="square">
            <a:spAutoFit/>
          </a:bodyPr>
          <a:lstStyle/>
          <a:p>
            <a:pPr algn="l"/>
            <a:r>
              <a:rPr sz="1100" b="0" i="0">
                <a:solidFill>
                  <a:srgbClr val="F5F0E8"/>
                </a:solidFill>
                <a:latin typeface="Calibri"/>
              </a:rPr>
              <a:t>Usar 'parafernalia' como categoria visible en el sitio es una oportunidad real: tiene volumen de busqueda en Chile y los competidores directos no la destacan.</a:t>
            </a:r>
          </a:p>
        </p:txBody>
      </p:sp>
      <p:sp>
        <p:nvSpPr>
          <p:cNvPr id="49" name="Rectangle 48"/>
          <p:cNvSpPr/>
          <p:nvPr/>
        </p:nvSpPr>
        <p:spPr>
          <a:xfrm>
            <a:off x="411480" y="6492240"/>
            <a:ext cx="11777472" cy="45720"/>
          </a:xfrm>
          <a:prstGeom prst="rect">
            <a:avLst/>
          </a:prstGeom>
          <a:solidFill>
            <a:srgbClr val="8B6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Rectangle 1"/>
          <p:cNvSpPr/>
          <p:nvPr/>
        </p:nvSpPr>
        <p:spPr>
          <a:xfrm>
            <a:off x="0" y="0"/>
            <a:ext cx="411480" cy="685800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11480" y="0"/>
            <a:ext cx="11777472" cy="594360"/>
          </a:xfrm>
          <a:prstGeom prst="rect">
            <a:avLst/>
          </a:prstGeom>
          <a:solidFill>
            <a:srgbClr val="3D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10972800" cy="411480"/>
          </a:xfrm>
          <a:prstGeom prst="rect">
            <a:avLst/>
          </a:prstGeom>
          <a:noFill/>
        </p:spPr>
        <p:txBody>
          <a:bodyPr wrap="square">
            <a:spAutoFit/>
          </a:bodyPr>
          <a:lstStyle/>
          <a:p>
            <a:pPr algn="l"/>
            <a:r>
              <a:rPr sz="2000" b="1" i="0">
                <a:solidFill>
                  <a:srgbClr val="F5F0E8"/>
                </a:solidFill>
                <a:latin typeface="Georgia"/>
              </a:rPr>
              <a:t>Dominio no disponible</a:t>
            </a:r>
          </a:p>
        </p:txBody>
      </p:sp>
      <p:sp>
        <p:nvSpPr>
          <p:cNvPr id="5" name="TextBox 4"/>
          <p:cNvSpPr txBox="1"/>
          <p:nvPr/>
        </p:nvSpPr>
        <p:spPr>
          <a:xfrm>
            <a:off x="1371600" y="1005840"/>
            <a:ext cx="9144000" cy="1097280"/>
          </a:xfrm>
          <a:prstGeom prst="rect">
            <a:avLst/>
          </a:prstGeom>
          <a:noFill/>
        </p:spPr>
        <p:txBody>
          <a:bodyPr wrap="square">
            <a:spAutoFit/>
          </a:bodyPr>
          <a:lstStyle/>
          <a:p>
            <a:pPr algn="ctr"/>
            <a:r>
              <a:rPr sz="5200" b="1" i="0">
                <a:solidFill>
                  <a:srgbClr val="C0392B"/>
                </a:solidFill>
                <a:latin typeface="Georgia"/>
              </a:rPr>
              <a:t>tabacochile.cl</a:t>
            </a:r>
          </a:p>
        </p:txBody>
      </p:sp>
      <p:sp>
        <p:nvSpPr>
          <p:cNvPr id="6" name="Rectangle 5"/>
          <p:cNvSpPr/>
          <p:nvPr/>
        </p:nvSpPr>
        <p:spPr>
          <a:xfrm>
            <a:off x="1371600" y="1719072"/>
            <a:ext cx="9144000" cy="54864"/>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0" y="2194560"/>
            <a:ext cx="3657600" cy="438912"/>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114800" y="2203703"/>
            <a:ext cx="3657600" cy="438912"/>
          </a:xfrm>
          <a:prstGeom prst="rect">
            <a:avLst/>
          </a:prstGeom>
          <a:noFill/>
        </p:spPr>
        <p:txBody>
          <a:bodyPr wrap="square">
            <a:spAutoFit/>
          </a:bodyPr>
          <a:lstStyle/>
          <a:p>
            <a:pPr algn="ctr"/>
            <a:r>
              <a:rPr sz="1400" b="1" i="0">
                <a:solidFill>
                  <a:srgbClr val="FFFFFF"/>
                </a:solidFill>
                <a:latin typeface="Calibri"/>
              </a:rPr>
              <a:t>DOMINIO REGISTRADO</a:t>
            </a:r>
          </a:p>
        </p:txBody>
      </p:sp>
      <p:sp>
        <p:nvSpPr>
          <p:cNvPr id="9" name="Rectangle 8"/>
          <p:cNvSpPr/>
          <p:nvPr/>
        </p:nvSpPr>
        <p:spPr>
          <a:xfrm>
            <a:off x="2286000" y="2834640"/>
            <a:ext cx="7315200" cy="1645920"/>
          </a:xfrm>
          <a:prstGeom prst="rect">
            <a:avLst/>
          </a:prstGeom>
          <a:solidFill>
            <a:srgbClr val="2A0A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468880" y="2971800"/>
            <a:ext cx="6949440" cy="320040"/>
          </a:xfrm>
          <a:prstGeom prst="rect">
            <a:avLst/>
          </a:prstGeom>
          <a:noFill/>
        </p:spPr>
        <p:txBody>
          <a:bodyPr wrap="square">
            <a:spAutoFit/>
          </a:bodyPr>
          <a:lstStyle/>
          <a:p>
            <a:pPr algn="l"/>
            <a:r>
              <a:rPr sz="1200" b="0" i="1">
                <a:solidFill>
                  <a:srgbClr val="959BA3"/>
                </a:solidFill>
                <a:latin typeface="Calibri"/>
              </a:rPr>
              <a:t>Titular registrado:</a:t>
            </a:r>
          </a:p>
        </p:txBody>
      </p:sp>
      <p:sp>
        <p:nvSpPr>
          <p:cNvPr id="11" name="TextBox 10"/>
          <p:cNvSpPr txBox="1"/>
          <p:nvPr/>
        </p:nvSpPr>
        <p:spPr>
          <a:xfrm>
            <a:off x="2468880" y="3291840"/>
            <a:ext cx="6949440" cy="548640"/>
          </a:xfrm>
          <a:prstGeom prst="rect">
            <a:avLst/>
          </a:prstGeom>
          <a:noFill/>
        </p:spPr>
        <p:txBody>
          <a:bodyPr wrap="square">
            <a:spAutoFit/>
          </a:bodyPr>
          <a:lstStyle/>
          <a:p>
            <a:pPr algn="l"/>
            <a:r>
              <a:rPr sz="2400" b="1" i="0">
                <a:solidFill>
                  <a:srgbClr val="F5F0E8"/>
                </a:solidFill>
                <a:latin typeface="Georgia"/>
              </a:rPr>
              <a:t>Sneha Rajesh Khatnani</a:t>
            </a:r>
          </a:p>
        </p:txBody>
      </p:sp>
      <p:sp>
        <p:nvSpPr>
          <p:cNvPr id="12" name="TextBox 11"/>
          <p:cNvSpPr txBox="1"/>
          <p:nvPr/>
        </p:nvSpPr>
        <p:spPr>
          <a:xfrm>
            <a:off x="2468880" y="3840480"/>
            <a:ext cx="6949440" cy="320040"/>
          </a:xfrm>
          <a:prstGeom prst="rect">
            <a:avLst/>
          </a:prstGeom>
          <a:noFill/>
        </p:spPr>
        <p:txBody>
          <a:bodyPr wrap="square">
            <a:spAutoFit/>
          </a:bodyPr>
          <a:lstStyle/>
          <a:p>
            <a:pPr algn="l"/>
            <a:r>
              <a:rPr sz="1100" b="0" i="1">
                <a:solidFill>
                  <a:srgbClr val="959BA3"/>
                </a:solidFill>
                <a:latin typeface="Calibri"/>
              </a:rPr>
              <a:t>Registrado en NIC.cl  —  verificado Marzo 2026</a:t>
            </a:r>
          </a:p>
        </p:txBody>
      </p:sp>
      <p:sp>
        <p:nvSpPr>
          <p:cNvPr id="13" name="TextBox 12"/>
          <p:cNvSpPr txBox="1"/>
          <p:nvPr/>
        </p:nvSpPr>
        <p:spPr>
          <a:xfrm>
            <a:off x="1371600" y="4709160"/>
            <a:ext cx="9144000" cy="640080"/>
          </a:xfrm>
          <a:prstGeom prst="rect">
            <a:avLst/>
          </a:prstGeom>
          <a:noFill/>
        </p:spPr>
        <p:txBody>
          <a:bodyPr wrap="square">
            <a:spAutoFit/>
          </a:bodyPr>
          <a:lstStyle/>
          <a:p>
            <a:pPr algn="ctr"/>
            <a:r>
              <a:rPr sz="1300" b="0" i="0">
                <a:solidFill>
                  <a:srgbClr val="F5F0E8"/>
                </a:solidFill>
                <a:latin typeface="Calibri"/>
              </a:rPr>
              <a:t>Este dominio no está disponible. Las opciones propuestas a continuación
son igualmente fuertes en términos de SEO e identidad de marca.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0E8"/>
        </a:solidFill>
        <a:effectLst/>
      </p:bgPr>
    </p:bg>
    <p:spTree>
      <p:nvGrpSpPr>
        <p:cNvPr id="1" name=""/>
        <p:cNvGrpSpPr/>
        <p:nvPr/>
      </p:nvGrpSpPr>
      <p:grpSpPr/>
      <p:sp>
        <p:nvSpPr>
          <p:cNvPr id="2" name="Rectangle 1"/>
          <p:cNvSpPr/>
          <p:nvPr/>
        </p:nvSpPr>
        <p:spPr>
          <a:xfrm>
            <a:off x="0" y="0"/>
            <a:ext cx="411480" cy="6858000"/>
          </a:xfrm>
          <a:prstGeom prst="rect">
            <a:avLst/>
          </a:prstGeom>
          <a:solidFill>
            <a:srgbClr val="8B6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11480" y="0"/>
            <a:ext cx="11777472" cy="59436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3657600" cy="384048"/>
          </a:xfrm>
          <a:prstGeom prst="rect">
            <a:avLst/>
          </a:prstGeom>
          <a:noFill/>
        </p:spPr>
        <p:txBody>
          <a:bodyPr wrap="square">
            <a:spAutoFit/>
          </a:bodyPr>
          <a:lstStyle/>
          <a:p>
            <a:pPr algn="l"/>
            <a:r>
              <a:rPr sz="1400" b="0" i="0">
                <a:solidFill>
                  <a:srgbClr val="F5F0E8"/>
                </a:solidFill>
                <a:latin typeface="Calibri"/>
              </a:rPr>
              <a:t>Opción 1 de 3</a:t>
            </a:r>
          </a:p>
        </p:txBody>
      </p:sp>
      <p:sp>
        <p:nvSpPr>
          <p:cNvPr id="5" name="Rectangle 4"/>
          <p:cNvSpPr/>
          <p:nvPr/>
        </p:nvSpPr>
        <p:spPr>
          <a:xfrm>
            <a:off x="9144000" y="91440"/>
            <a:ext cx="2651760" cy="41148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0" y="100584"/>
            <a:ext cx="2651760" cy="411480"/>
          </a:xfrm>
          <a:prstGeom prst="rect">
            <a:avLst/>
          </a:prstGeom>
          <a:noFill/>
        </p:spPr>
        <p:txBody>
          <a:bodyPr wrap="square">
            <a:spAutoFit/>
          </a:bodyPr>
          <a:lstStyle/>
          <a:p>
            <a:pPr algn="ctr"/>
            <a:r>
              <a:rPr sz="1300" b="1" i="0">
                <a:solidFill>
                  <a:srgbClr val="FFFFFF"/>
                </a:solidFill>
                <a:latin typeface="Calibri"/>
              </a:rPr>
              <a:t>DISPONIBLE</a:t>
            </a:r>
          </a:p>
        </p:txBody>
      </p:sp>
      <p:sp>
        <p:nvSpPr>
          <p:cNvPr id="7" name="TextBox 6"/>
          <p:cNvSpPr txBox="1"/>
          <p:nvPr/>
        </p:nvSpPr>
        <p:spPr>
          <a:xfrm>
            <a:off x="731520" y="749808"/>
            <a:ext cx="10972800" cy="914400"/>
          </a:xfrm>
          <a:prstGeom prst="rect">
            <a:avLst/>
          </a:prstGeom>
          <a:noFill/>
        </p:spPr>
        <p:txBody>
          <a:bodyPr wrap="square">
            <a:spAutoFit/>
          </a:bodyPr>
          <a:lstStyle/>
          <a:p>
            <a:pPr algn="l"/>
            <a:r>
              <a:rPr sz="4000" b="1" i="0">
                <a:solidFill>
                  <a:srgbClr val="1A1A1A"/>
                </a:solidFill>
                <a:latin typeface="Georgia"/>
              </a:rPr>
              <a:t>casadeltabaco.cl</a:t>
            </a:r>
          </a:p>
        </p:txBody>
      </p:sp>
      <p:sp>
        <p:nvSpPr>
          <p:cNvPr id="8" name="TextBox 7"/>
          <p:cNvSpPr txBox="1"/>
          <p:nvPr/>
        </p:nvSpPr>
        <p:spPr>
          <a:xfrm>
            <a:off x="731520" y="1554480"/>
            <a:ext cx="10972800" cy="365760"/>
          </a:xfrm>
          <a:prstGeom prst="rect">
            <a:avLst/>
          </a:prstGeom>
          <a:noFill/>
        </p:spPr>
        <p:txBody>
          <a:bodyPr wrap="square">
            <a:spAutoFit/>
          </a:bodyPr>
          <a:lstStyle/>
          <a:p>
            <a:pPr algn="l"/>
            <a:r>
              <a:rPr sz="1400" b="0" i="1">
                <a:solidFill>
                  <a:srgbClr val="8B6914"/>
                </a:solidFill>
                <a:latin typeface="Calibri"/>
              </a:rPr>
              <a:t>Autoridad · Confianza · Referente del mercado</a:t>
            </a:r>
          </a:p>
        </p:txBody>
      </p:sp>
      <p:sp>
        <p:nvSpPr>
          <p:cNvPr id="9" name="Rectangle 8"/>
          <p:cNvSpPr/>
          <p:nvPr/>
        </p:nvSpPr>
        <p:spPr>
          <a:xfrm>
            <a:off x="731520" y="2011680"/>
            <a:ext cx="10698480" cy="27432"/>
          </a:xfrm>
          <a:prstGeom prst="rect">
            <a:avLst/>
          </a:prstGeom>
          <a:solidFill>
            <a:srgbClr val="8B6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2148840"/>
            <a:ext cx="6217920" cy="274320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2286000"/>
            <a:ext cx="5943600" cy="2468880"/>
          </a:xfrm>
          <a:prstGeom prst="rect">
            <a:avLst/>
          </a:prstGeom>
          <a:noFill/>
        </p:spPr>
        <p:txBody>
          <a:bodyPr wrap="square">
            <a:spAutoFit/>
          </a:bodyPr>
          <a:lstStyle/>
          <a:p>
            <a:pPr algn="l"/>
            <a:r>
              <a:rPr sz="1300" b="0" i="0">
                <a:solidFill>
                  <a:srgbClr val="F5F0E8"/>
                </a:solidFill>
                <a:latin typeface="Calibri"/>
              </a:rPr>
              <a:t>"Casa" evoca pertenencia, calidez y confianza. Combinado con "tabaco", comunica exactamente el propósito del negocio sin ambigüedades.
El dominio es claro para cualquier persona, fácil de dictar por teléfono y posiciona inmediatamente en búsquedas de Google Chile para 'tabaco' y términos relacionados.
Proyecta imagen de tienda especializada y de confianza, no de una tienda genérica.</a:t>
            </a:r>
          </a:p>
        </p:txBody>
      </p:sp>
      <p:sp>
        <p:nvSpPr>
          <p:cNvPr id="12" name="Rectangle 11"/>
          <p:cNvSpPr/>
          <p:nvPr/>
        </p:nvSpPr>
        <p:spPr>
          <a:xfrm>
            <a:off x="7132320" y="2148840"/>
            <a:ext cx="4754880" cy="2743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269480" y="2267712"/>
            <a:ext cx="4480560" cy="292608"/>
          </a:xfrm>
          <a:prstGeom prst="rect">
            <a:avLst/>
          </a:prstGeom>
          <a:noFill/>
        </p:spPr>
        <p:txBody>
          <a:bodyPr wrap="square">
            <a:spAutoFit/>
          </a:bodyPr>
          <a:lstStyle/>
          <a:p>
            <a:pPr algn="l"/>
            <a:r>
              <a:rPr sz="1200" b="1" i="0">
                <a:solidFill>
                  <a:srgbClr val="8B6914"/>
                </a:solidFill>
                <a:latin typeface="Calibri"/>
              </a:rPr>
              <a:t>Análisis estratégico</a:t>
            </a:r>
          </a:p>
        </p:txBody>
      </p:sp>
      <p:sp>
        <p:nvSpPr>
          <p:cNvPr id="14" name="TextBox 13"/>
          <p:cNvSpPr txBox="1"/>
          <p:nvPr/>
        </p:nvSpPr>
        <p:spPr>
          <a:xfrm>
            <a:off x="7269480" y="2633472"/>
            <a:ext cx="2011680" cy="256032"/>
          </a:xfrm>
          <a:prstGeom prst="rect">
            <a:avLst/>
          </a:prstGeom>
          <a:noFill/>
        </p:spPr>
        <p:txBody>
          <a:bodyPr wrap="square">
            <a:spAutoFit/>
          </a:bodyPr>
          <a:lstStyle/>
          <a:p>
            <a:pPr algn="l"/>
            <a:r>
              <a:rPr sz="1000" b="0" i="0">
                <a:solidFill>
                  <a:srgbClr val="444444"/>
                </a:solidFill>
                <a:latin typeface="Calibri"/>
              </a:rPr>
              <a:t>SEO / Busqueda organica</a:t>
            </a:r>
          </a:p>
        </p:txBody>
      </p:sp>
      <p:sp>
        <p:nvSpPr>
          <p:cNvPr id="15" name="Rectangle 14"/>
          <p:cNvSpPr/>
          <p:nvPr/>
        </p:nvSpPr>
        <p:spPr>
          <a:xfrm>
            <a:off x="9326880" y="2670048"/>
            <a:ext cx="246888" cy="164592"/>
          </a:xfrm>
          <a:prstGeom prst="rect">
            <a:avLst/>
          </a:prstGeom>
          <a:solidFill>
            <a:srgbClr val="8B6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9619488" y="2670048"/>
            <a:ext cx="246888" cy="164592"/>
          </a:xfrm>
          <a:prstGeom prst="rect">
            <a:avLst/>
          </a:prstGeom>
          <a:solidFill>
            <a:srgbClr val="8B6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9912096" y="2670048"/>
            <a:ext cx="246888" cy="164592"/>
          </a:xfrm>
          <a:prstGeom prst="rect">
            <a:avLst/>
          </a:prstGeom>
          <a:solidFill>
            <a:srgbClr val="8B6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0204704" y="2670048"/>
            <a:ext cx="246888" cy="164592"/>
          </a:xfrm>
          <a:prstGeom prst="rect">
            <a:avLst/>
          </a:prstGeom>
          <a:solidFill>
            <a:srgbClr val="8B6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0497311" y="2670048"/>
            <a:ext cx="246888" cy="164592"/>
          </a:xfrm>
          <a:prstGeom prst="rect">
            <a:avLst/>
          </a:prstGeom>
          <a:solidFill>
            <a:srgbClr val="8B6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69480" y="2980944"/>
            <a:ext cx="2011680" cy="256032"/>
          </a:xfrm>
          <a:prstGeom prst="rect">
            <a:avLst/>
          </a:prstGeom>
          <a:noFill/>
        </p:spPr>
        <p:txBody>
          <a:bodyPr wrap="square">
            <a:spAutoFit/>
          </a:bodyPr>
          <a:lstStyle/>
          <a:p>
            <a:pPr algn="l"/>
            <a:r>
              <a:rPr sz="1000" b="0" i="0">
                <a:solidFill>
                  <a:srgbClr val="444444"/>
                </a:solidFill>
                <a:latin typeface="Calibri"/>
              </a:rPr>
              <a:t>Facilidad de recordar</a:t>
            </a:r>
          </a:p>
        </p:txBody>
      </p:sp>
      <p:sp>
        <p:nvSpPr>
          <p:cNvPr id="21" name="Rectangle 20"/>
          <p:cNvSpPr/>
          <p:nvPr/>
        </p:nvSpPr>
        <p:spPr>
          <a:xfrm>
            <a:off x="9326880" y="3017520"/>
            <a:ext cx="246888" cy="164592"/>
          </a:xfrm>
          <a:prstGeom prst="rect">
            <a:avLst/>
          </a:prstGeom>
          <a:solidFill>
            <a:srgbClr val="8B6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619488" y="3017520"/>
            <a:ext cx="246888" cy="164592"/>
          </a:xfrm>
          <a:prstGeom prst="rect">
            <a:avLst/>
          </a:prstGeom>
          <a:solidFill>
            <a:srgbClr val="8B6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912096" y="3017520"/>
            <a:ext cx="246888" cy="164592"/>
          </a:xfrm>
          <a:prstGeom prst="rect">
            <a:avLst/>
          </a:prstGeom>
          <a:solidFill>
            <a:srgbClr val="8B6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0204704" y="3017520"/>
            <a:ext cx="246888" cy="164592"/>
          </a:xfrm>
          <a:prstGeom prst="rect">
            <a:avLst/>
          </a:prstGeom>
          <a:solidFill>
            <a:srgbClr val="8B6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0497311" y="3017520"/>
            <a:ext cx="246888" cy="164592"/>
          </a:xfrm>
          <a:prstGeom prst="rect">
            <a:avLst/>
          </a:prstGeom>
          <a:solidFill>
            <a:srgbClr val="8B6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269480" y="3328416"/>
            <a:ext cx="2011680" cy="256032"/>
          </a:xfrm>
          <a:prstGeom prst="rect">
            <a:avLst/>
          </a:prstGeom>
          <a:noFill/>
        </p:spPr>
        <p:txBody>
          <a:bodyPr wrap="square">
            <a:spAutoFit/>
          </a:bodyPr>
          <a:lstStyle/>
          <a:p>
            <a:pPr algn="l"/>
            <a:r>
              <a:rPr sz="1000" b="0" i="0">
                <a:solidFill>
                  <a:srgbClr val="444444"/>
                </a:solidFill>
                <a:latin typeface="Calibri"/>
              </a:rPr>
              <a:t>Diferenciacion de marca</a:t>
            </a:r>
          </a:p>
        </p:txBody>
      </p:sp>
      <p:sp>
        <p:nvSpPr>
          <p:cNvPr id="27" name="Rectangle 26"/>
          <p:cNvSpPr/>
          <p:nvPr/>
        </p:nvSpPr>
        <p:spPr>
          <a:xfrm>
            <a:off x="9326880" y="3364992"/>
            <a:ext cx="246888" cy="164592"/>
          </a:xfrm>
          <a:prstGeom prst="rect">
            <a:avLst/>
          </a:prstGeom>
          <a:solidFill>
            <a:srgbClr val="8B6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619488" y="3364992"/>
            <a:ext cx="246888" cy="164592"/>
          </a:xfrm>
          <a:prstGeom prst="rect">
            <a:avLst/>
          </a:prstGeom>
          <a:solidFill>
            <a:srgbClr val="8B6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912096" y="3364992"/>
            <a:ext cx="246888" cy="164592"/>
          </a:xfrm>
          <a:prstGeom prst="rect">
            <a:avLst/>
          </a:prstGeom>
          <a:solidFill>
            <a:srgbClr val="8B6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0204704" y="3364992"/>
            <a:ext cx="246888" cy="164592"/>
          </a:xfrm>
          <a:prstGeom prst="rect">
            <a:avLst/>
          </a:prstGeom>
          <a:solidFill>
            <a:srgbClr val="8B6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10497311" y="3364992"/>
            <a:ext cx="246888" cy="164592"/>
          </a:xfrm>
          <a:prstGeom prst="rect">
            <a:avLst/>
          </a:prstGeom>
          <a:solidFill>
            <a:srgbClr val="EE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269480" y="3675887"/>
            <a:ext cx="2011680" cy="256032"/>
          </a:xfrm>
          <a:prstGeom prst="rect">
            <a:avLst/>
          </a:prstGeom>
          <a:noFill/>
        </p:spPr>
        <p:txBody>
          <a:bodyPr wrap="square">
            <a:spAutoFit/>
          </a:bodyPr>
          <a:lstStyle/>
          <a:p>
            <a:pPr algn="l"/>
            <a:r>
              <a:rPr sz="1000" b="0" i="0">
                <a:solidFill>
                  <a:srgbClr val="444444"/>
                </a:solidFill>
                <a:latin typeface="Calibri"/>
              </a:rPr>
              <a:t>Escalabilidad de marca</a:t>
            </a:r>
          </a:p>
        </p:txBody>
      </p:sp>
      <p:sp>
        <p:nvSpPr>
          <p:cNvPr id="33" name="Rectangle 32"/>
          <p:cNvSpPr/>
          <p:nvPr/>
        </p:nvSpPr>
        <p:spPr>
          <a:xfrm>
            <a:off x="9326880" y="3712463"/>
            <a:ext cx="246888" cy="164592"/>
          </a:xfrm>
          <a:prstGeom prst="rect">
            <a:avLst/>
          </a:prstGeom>
          <a:solidFill>
            <a:srgbClr val="8B6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619488" y="3712463"/>
            <a:ext cx="246888" cy="164592"/>
          </a:xfrm>
          <a:prstGeom prst="rect">
            <a:avLst/>
          </a:prstGeom>
          <a:solidFill>
            <a:srgbClr val="8B6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912096" y="3712463"/>
            <a:ext cx="246888" cy="164592"/>
          </a:xfrm>
          <a:prstGeom prst="rect">
            <a:avLst/>
          </a:prstGeom>
          <a:solidFill>
            <a:srgbClr val="8B6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10204704" y="3712463"/>
            <a:ext cx="246888" cy="164592"/>
          </a:xfrm>
          <a:prstGeom prst="rect">
            <a:avLst/>
          </a:prstGeom>
          <a:solidFill>
            <a:srgbClr val="8B6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10497311" y="3712463"/>
            <a:ext cx="246888" cy="164592"/>
          </a:xfrm>
          <a:prstGeom prst="rect">
            <a:avLst/>
          </a:prstGeom>
          <a:solidFill>
            <a:srgbClr val="EE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31520" y="5074920"/>
            <a:ext cx="11064240" cy="1371600"/>
          </a:xfrm>
          <a:prstGeom prst="rect">
            <a:avLst/>
          </a:prstGeom>
          <a:solidFill>
            <a:srgbClr val="EE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731520" y="5074920"/>
            <a:ext cx="73152" cy="1371600"/>
          </a:xfrm>
          <a:prstGeom prst="rect">
            <a:avLst/>
          </a:prstGeom>
          <a:solidFill>
            <a:srgbClr val="8B6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05840" y="5138928"/>
            <a:ext cx="10607040" cy="292608"/>
          </a:xfrm>
          <a:prstGeom prst="rect">
            <a:avLst/>
          </a:prstGeom>
          <a:noFill/>
        </p:spPr>
        <p:txBody>
          <a:bodyPr wrap="square">
            <a:spAutoFit/>
          </a:bodyPr>
          <a:lstStyle/>
          <a:p>
            <a:pPr algn="l"/>
            <a:r>
              <a:rPr sz="1100" b="1" i="0">
                <a:solidFill>
                  <a:srgbClr val="8B6914"/>
                </a:solidFill>
                <a:latin typeface="Calibri"/>
              </a:rPr>
              <a:t>¿Para quién es esta opción?</a:t>
            </a:r>
          </a:p>
        </p:txBody>
      </p:sp>
      <p:sp>
        <p:nvSpPr>
          <p:cNvPr id="41" name="TextBox 40"/>
          <p:cNvSpPr txBox="1"/>
          <p:nvPr/>
        </p:nvSpPr>
        <p:spPr>
          <a:xfrm>
            <a:off x="1005840" y="5458968"/>
            <a:ext cx="10515600" cy="868680"/>
          </a:xfrm>
          <a:prstGeom prst="rect">
            <a:avLst/>
          </a:prstGeom>
          <a:noFill/>
        </p:spPr>
        <p:txBody>
          <a:bodyPr wrap="square">
            <a:spAutoFit/>
          </a:bodyPr>
          <a:lstStyle/>
          <a:p>
            <a:pPr algn="l"/>
            <a:r>
              <a:rPr sz="1200" b="0" i="0">
                <a:solidFill>
                  <a:srgbClr val="1A1A1A"/>
                </a:solidFill>
                <a:latin typeface="Calibri"/>
              </a:rPr>
              <a:t>Ideal si el cliente quiere posicionarse como el referente principal del mercado de tabaco en Chile. Transmite solidez y confianza desde el primer contacto. Recomendado para una estrategia de largo plazo.</a:t>
            </a:r>
          </a:p>
        </p:txBody>
      </p:sp>
      <p:sp>
        <p:nvSpPr>
          <p:cNvPr id="42" name="Rectangle 41"/>
          <p:cNvSpPr/>
          <p:nvPr/>
        </p:nvSpPr>
        <p:spPr>
          <a:xfrm>
            <a:off x="411480" y="6492240"/>
            <a:ext cx="11777472" cy="45720"/>
          </a:xfrm>
          <a:prstGeom prst="rect">
            <a:avLst/>
          </a:prstGeom>
          <a:solidFill>
            <a:srgbClr val="8B6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0E8"/>
        </a:solidFill>
        <a:effectLst/>
      </p:bgPr>
    </p:bg>
    <p:spTree>
      <p:nvGrpSpPr>
        <p:cNvPr id="1" name=""/>
        <p:cNvGrpSpPr/>
        <p:nvPr/>
      </p:nvGrpSpPr>
      <p:grpSpPr/>
      <p:sp>
        <p:nvSpPr>
          <p:cNvPr id="2" name="Rectangle 1"/>
          <p:cNvSpPr/>
          <p:nvPr/>
        </p:nvSpPr>
        <p:spPr>
          <a:xfrm>
            <a:off x="0" y="0"/>
            <a:ext cx="411480" cy="6858000"/>
          </a:xfrm>
          <a:prstGeom prst="rect">
            <a:avLst/>
          </a:prstGeom>
          <a:solidFill>
            <a:srgbClr val="8B6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11480" y="0"/>
            <a:ext cx="11777472" cy="59436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3657600" cy="384048"/>
          </a:xfrm>
          <a:prstGeom prst="rect">
            <a:avLst/>
          </a:prstGeom>
          <a:noFill/>
        </p:spPr>
        <p:txBody>
          <a:bodyPr wrap="square">
            <a:spAutoFit/>
          </a:bodyPr>
          <a:lstStyle/>
          <a:p>
            <a:pPr algn="l"/>
            <a:r>
              <a:rPr sz="1400" b="0" i="0">
                <a:solidFill>
                  <a:srgbClr val="F5F0E8"/>
                </a:solidFill>
                <a:latin typeface="Calibri"/>
              </a:rPr>
              <a:t>Opción 2 de 3</a:t>
            </a:r>
          </a:p>
        </p:txBody>
      </p:sp>
      <p:sp>
        <p:nvSpPr>
          <p:cNvPr id="5" name="Rectangle 4"/>
          <p:cNvSpPr/>
          <p:nvPr/>
        </p:nvSpPr>
        <p:spPr>
          <a:xfrm>
            <a:off x="9144000" y="91440"/>
            <a:ext cx="2651760" cy="41148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0" y="100584"/>
            <a:ext cx="2651760" cy="411480"/>
          </a:xfrm>
          <a:prstGeom prst="rect">
            <a:avLst/>
          </a:prstGeom>
          <a:noFill/>
        </p:spPr>
        <p:txBody>
          <a:bodyPr wrap="square">
            <a:spAutoFit/>
          </a:bodyPr>
          <a:lstStyle/>
          <a:p>
            <a:pPr algn="ctr"/>
            <a:r>
              <a:rPr sz="1300" b="1" i="0">
                <a:solidFill>
                  <a:srgbClr val="FFFFFF"/>
                </a:solidFill>
                <a:latin typeface="Calibri"/>
              </a:rPr>
              <a:t>DISPONIBLE</a:t>
            </a:r>
          </a:p>
        </p:txBody>
      </p:sp>
      <p:sp>
        <p:nvSpPr>
          <p:cNvPr id="7" name="TextBox 6"/>
          <p:cNvSpPr txBox="1"/>
          <p:nvPr/>
        </p:nvSpPr>
        <p:spPr>
          <a:xfrm>
            <a:off x="731520" y="749808"/>
            <a:ext cx="10972800" cy="914400"/>
          </a:xfrm>
          <a:prstGeom prst="rect">
            <a:avLst/>
          </a:prstGeom>
          <a:noFill/>
        </p:spPr>
        <p:txBody>
          <a:bodyPr wrap="square">
            <a:spAutoFit/>
          </a:bodyPr>
          <a:lstStyle/>
          <a:p>
            <a:pPr algn="l"/>
            <a:r>
              <a:rPr sz="4000" b="1" i="0">
                <a:solidFill>
                  <a:srgbClr val="1A1A1A"/>
                </a:solidFill>
                <a:latin typeface="Georgia"/>
              </a:rPr>
              <a:t>zonatabaco.cl</a:t>
            </a:r>
          </a:p>
        </p:txBody>
      </p:sp>
      <p:sp>
        <p:nvSpPr>
          <p:cNvPr id="8" name="TextBox 7"/>
          <p:cNvSpPr txBox="1"/>
          <p:nvPr/>
        </p:nvSpPr>
        <p:spPr>
          <a:xfrm>
            <a:off x="731520" y="1554480"/>
            <a:ext cx="10972800" cy="365760"/>
          </a:xfrm>
          <a:prstGeom prst="rect">
            <a:avLst/>
          </a:prstGeom>
          <a:noFill/>
        </p:spPr>
        <p:txBody>
          <a:bodyPr wrap="square">
            <a:spAutoFit/>
          </a:bodyPr>
          <a:lstStyle/>
          <a:p>
            <a:pPr algn="l"/>
            <a:r>
              <a:rPr sz="1400" b="0" i="1">
                <a:solidFill>
                  <a:srgbClr val="8B6914"/>
                </a:solidFill>
                <a:latin typeface="Calibri"/>
              </a:rPr>
              <a:t>Especialización · Comunidad · Destino único</a:t>
            </a:r>
          </a:p>
        </p:txBody>
      </p:sp>
      <p:sp>
        <p:nvSpPr>
          <p:cNvPr id="9" name="Rectangle 8"/>
          <p:cNvSpPr/>
          <p:nvPr/>
        </p:nvSpPr>
        <p:spPr>
          <a:xfrm>
            <a:off x="731520" y="2011680"/>
            <a:ext cx="10698480" cy="27432"/>
          </a:xfrm>
          <a:prstGeom prst="rect">
            <a:avLst/>
          </a:prstGeom>
          <a:solidFill>
            <a:srgbClr val="8B6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2148840"/>
            <a:ext cx="6217920" cy="274320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2286000"/>
            <a:ext cx="5943600" cy="2468880"/>
          </a:xfrm>
          <a:prstGeom prst="rect">
            <a:avLst/>
          </a:prstGeom>
          <a:noFill/>
        </p:spPr>
        <p:txBody>
          <a:bodyPr wrap="square">
            <a:spAutoFit/>
          </a:bodyPr>
          <a:lstStyle/>
          <a:p>
            <a:pPr algn="l"/>
            <a:r>
              <a:rPr sz="1300" b="0" i="0">
                <a:solidFill>
                  <a:srgbClr val="F5F0E8"/>
                </a:solidFill>
                <a:latin typeface="Calibri"/>
              </a:rPr>
              <a:t>"Zona" sugiere un espacio dedicado exclusivamente al tabaco y sus accesorios. Es un término moderno, corto y fácil de recordar.
Funciona bien para posicionar una tienda con fuerte sentido de comunidad y especialización. Evoca un espacio donde el amante del tabaco encontrará todo lo que busca.
El término 'tabaco' en el dominio asegura SEO inmediato para las búsquedas más relevantes del mercado chileno.</a:t>
            </a:r>
          </a:p>
        </p:txBody>
      </p:sp>
      <p:sp>
        <p:nvSpPr>
          <p:cNvPr id="12" name="Rectangle 11"/>
          <p:cNvSpPr/>
          <p:nvPr/>
        </p:nvSpPr>
        <p:spPr>
          <a:xfrm>
            <a:off x="7132320" y="2148840"/>
            <a:ext cx="4754880" cy="2743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269480" y="2267712"/>
            <a:ext cx="4480560" cy="292608"/>
          </a:xfrm>
          <a:prstGeom prst="rect">
            <a:avLst/>
          </a:prstGeom>
          <a:noFill/>
        </p:spPr>
        <p:txBody>
          <a:bodyPr wrap="square">
            <a:spAutoFit/>
          </a:bodyPr>
          <a:lstStyle/>
          <a:p>
            <a:pPr algn="l"/>
            <a:r>
              <a:rPr sz="1200" b="1" i="0">
                <a:solidFill>
                  <a:srgbClr val="8B6914"/>
                </a:solidFill>
                <a:latin typeface="Calibri"/>
              </a:rPr>
              <a:t>Análisis estratégico</a:t>
            </a:r>
          </a:p>
        </p:txBody>
      </p:sp>
      <p:sp>
        <p:nvSpPr>
          <p:cNvPr id="14" name="TextBox 13"/>
          <p:cNvSpPr txBox="1"/>
          <p:nvPr/>
        </p:nvSpPr>
        <p:spPr>
          <a:xfrm>
            <a:off x="7269480" y="2633472"/>
            <a:ext cx="2011680" cy="256032"/>
          </a:xfrm>
          <a:prstGeom prst="rect">
            <a:avLst/>
          </a:prstGeom>
          <a:noFill/>
        </p:spPr>
        <p:txBody>
          <a:bodyPr wrap="square">
            <a:spAutoFit/>
          </a:bodyPr>
          <a:lstStyle/>
          <a:p>
            <a:pPr algn="l"/>
            <a:r>
              <a:rPr sz="1000" b="0" i="0">
                <a:solidFill>
                  <a:srgbClr val="444444"/>
                </a:solidFill>
                <a:latin typeface="Calibri"/>
              </a:rPr>
              <a:t>SEO / Busqueda organica</a:t>
            </a:r>
          </a:p>
        </p:txBody>
      </p:sp>
      <p:sp>
        <p:nvSpPr>
          <p:cNvPr id="15" name="Rectangle 14"/>
          <p:cNvSpPr/>
          <p:nvPr/>
        </p:nvSpPr>
        <p:spPr>
          <a:xfrm>
            <a:off x="9326880" y="2670048"/>
            <a:ext cx="246888" cy="164592"/>
          </a:xfrm>
          <a:prstGeom prst="rect">
            <a:avLst/>
          </a:prstGeom>
          <a:solidFill>
            <a:srgbClr val="8B6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9619488" y="2670048"/>
            <a:ext cx="246888" cy="164592"/>
          </a:xfrm>
          <a:prstGeom prst="rect">
            <a:avLst/>
          </a:prstGeom>
          <a:solidFill>
            <a:srgbClr val="8B6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9912096" y="2670048"/>
            <a:ext cx="246888" cy="164592"/>
          </a:xfrm>
          <a:prstGeom prst="rect">
            <a:avLst/>
          </a:prstGeom>
          <a:solidFill>
            <a:srgbClr val="8B6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0204704" y="2670048"/>
            <a:ext cx="246888" cy="164592"/>
          </a:xfrm>
          <a:prstGeom prst="rect">
            <a:avLst/>
          </a:prstGeom>
          <a:solidFill>
            <a:srgbClr val="8B6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0497311" y="2670048"/>
            <a:ext cx="246888" cy="164592"/>
          </a:xfrm>
          <a:prstGeom prst="rect">
            <a:avLst/>
          </a:prstGeom>
          <a:solidFill>
            <a:srgbClr val="8B6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69480" y="2980944"/>
            <a:ext cx="2011680" cy="256032"/>
          </a:xfrm>
          <a:prstGeom prst="rect">
            <a:avLst/>
          </a:prstGeom>
          <a:noFill/>
        </p:spPr>
        <p:txBody>
          <a:bodyPr wrap="square">
            <a:spAutoFit/>
          </a:bodyPr>
          <a:lstStyle/>
          <a:p>
            <a:pPr algn="l"/>
            <a:r>
              <a:rPr sz="1000" b="0" i="0">
                <a:solidFill>
                  <a:srgbClr val="444444"/>
                </a:solidFill>
                <a:latin typeface="Calibri"/>
              </a:rPr>
              <a:t>Facilidad de recordar</a:t>
            </a:r>
          </a:p>
        </p:txBody>
      </p:sp>
      <p:sp>
        <p:nvSpPr>
          <p:cNvPr id="21" name="Rectangle 20"/>
          <p:cNvSpPr/>
          <p:nvPr/>
        </p:nvSpPr>
        <p:spPr>
          <a:xfrm>
            <a:off x="9326880" y="3017520"/>
            <a:ext cx="246888" cy="164592"/>
          </a:xfrm>
          <a:prstGeom prst="rect">
            <a:avLst/>
          </a:prstGeom>
          <a:solidFill>
            <a:srgbClr val="8B6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619488" y="3017520"/>
            <a:ext cx="246888" cy="164592"/>
          </a:xfrm>
          <a:prstGeom prst="rect">
            <a:avLst/>
          </a:prstGeom>
          <a:solidFill>
            <a:srgbClr val="8B6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912096" y="3017520"/>
            <a:ext cx="246888" cy="164592"/>
          </a:xfrm>
          <a:prstGeom prst="rect">
            <a:avLst/>
          </a:prstGeom>
          <a:solidFill>
            <a:srgbClr val="8B6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0204704" y="3017520"/>
            <a:ext cx="246888" cy="164592"/>
          </a:xfrm>
          <a:prstGeom prst="rect">
            <a:avLst/>
          </a:prstGeom>
          <a:solidFill>
            <a:srgbClr val="8B6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0497311" y="3017520"/>
            <a:ext cx="246888" cy="164592"/>
          </a:xfrm>
          <a:prstGeom prst="rect">
            <a:avLst/>
          </a:prstGeom>
          <a:solidFill>
            <a:srgbClr val="EE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269480" y="3328416"/>
            <a:ext cx="2011680" cy="256032"/>
          </a:xfrm>
          <a:prstGeom prst="rect">
            <a:avLst/>
          </a:prstGeom>
          <a:noFill/>
        </p:spPr>
        <p:txBody>
          <a:bodyPr wrap="square">
            <a:spAutoFit/>
          </a:bodyPr>
          <a:lstStyle/>
          <a:p>
            <a:pPr algn="l"/>
            <a:r>
              <a:rPr sz="1000" b="0" i="0">
                <a:solidFill>
                  <a:srgbClr val="444444"/>
                </a:solidFill>
                <a:latin typeface="Calibri"/>
              </a:rPr>
              <a:t>Diferenciacion de marca</a:t>
            </a:r>
          </a:p>
        </p:txBody>
      </p:sp>
      <p:sp>
        <p:nvSpPr>
          <p:cNvPr id="27" name="Rectangle 26"/>
          <p:cNvSpPr/>
          <p:nvPr/>
        </p:nvSpPr>
        <p:spPr>
          <a:xfrm>
            <a:off x="9326880" y="3364992"/>
            <a:ext cx="246888" cy="164592"/>
          </a:xfrm>
          <a:prstGeom prst="rect">
            <a:avLst/>
          </a:prstGeom>
          <a:solidFill>
            <a:srgbClr val="8B6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619488" y="3364992"/>
            <a:ext cx="246888" cy="164592"/>
          </a:xfrm>
          <a:prstGeom prst="rect">
            <a:avLst/>
          </a:prstGeom>
          <a:solidFill>
            <a:srgbClr val="8B6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912096" y="3364992"/>
            <a:ext cx="246888" cy="164592"/>
          </a:xfrm>
          <a:prstGeom prst="rect">
            <a:avLst/>
          </a:prstGeom>
          <a:solidFill>
            <a:srgbClr val="8B6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0204704" y="3364992"/>
            <a:ext cx="246888" cy="164592"/>
          </a:xfrm>
          <a:prstGeom prst="rect">
            <a:avLst/>
          </a:prstGeom>
          <a:solidFill>
            <a:srgbClr val="8B6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10497311" y="3364992"/>
            <a:ext cx="246888" cy="164592"/>
          </a:xfrm>
          <a:prstGeom prst="rect">
            <a:avLst/>
          </a:prstGeom>
          <a:solidFill>
            <a:srgbClr val="EE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269480" y="3675887"/>
            <a:ext cx="2011680" cy="256032"/>
          </a:xfrm>
          <a:prstGeom prst="rect">
            <a:avLst/>
          </a:prstGeom>
          <a:noFill/>
        </p:spPr>
        <p:txBody>
          <a:bodyPr wrap="square">
            <a:spAutoFit/>
          </a:bodyPr>
          <a:lstStyle/>
          <a:p>
            <a:pPr algn="l"/>
            <a:r>
              <a:rPr sz="1000" b="0" i="0">
                <a:solidFill>
                  <a:srgbClr val="444444"/>
                </a:solidFill>
                <a:latin typeface="Calibri"/>
              </a:rPr>
              <a:t>Escalabilidad de marca</a:t>
            </a:r>
          </a:p>
        </p:txBody>
      </p:sp>
      <p:sp>
        <p:nvSpPr>
          <p:cNvPr id="33" name="Rectangle 32"/>
          <p:cNvSpPr/>
          <p:nvPr/>
        </p:nvSpPr>
        <p:spPr>
          <a:xfrm>
            <a:off x="9326880" y="3712463"/>
            <a:ext cx="246888" cy="164592"/>
          </a:xfrm>
          <a:prstGeom prst="rect">
            <a:avLst/>
          </a:prstGeom>
          <a:solidFill>
            <a:srgbClr val="8B6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619488" y="3712463"/>
            <a:ext cx="246888" cy="164592"/>
          </a:xfrm>
          <a:prstGeom prst="rect">
            <a:avLst/>
          </a:prstGeom>
          <a:solidFill>
            <a:srgbClr val="8B6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912096" y="3712463"/>
            <a:ext cx="246888" cy="164592"/>
          </a:xfrm>
          <a:prstGeom prst="rect">
            <a:avLst/>
          </a:prstGeom>
          <a:solidFill>
            <a:srgbClr val="8B6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10204704" y="3712463"/>
            <a:ext cx="246888" cy="164592"/>
          </a:xfrm>
          <a:prstGeom prst="rect">
            <a:avLst/>
          </a:prstGeom>
          <a:solidFill>
            <a:srgbClr val="8B6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10497311" y="3712463"/>
            <a:ext cx="246888" cy="164592"/>
          </a:xfrm>
          <a:prstGeom prst="rect">
            <a:avLst/>
          </a:prstGeom>
          <a:solidFill>
            <a:srgbClr val="EE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31520" y="5074920"/>
            <a:ext cx="11064240" cy="1371600"/>
          </a:xfrm>
          <a:prstGeom prst="rect">
            <a:avLst/>
          </a:prstGeom>
          <a:solidFill>
            <a:srgbClr val="EE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731520" y="5074920"/>
            <a:ext cx="73152" cy="1371600"/>
          </a:xfrm>
          <a:prstGeom prst="rect">
            <a:avLst/>
          </a:prstGeom>
          <a:solidFill>
            <a:srgbClr val="8B6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05840" y="5138928"/>
            <a:ext cx="10607040" cy="292608"/>
          </a:xfrm>
          <a:prstGeom prst="rect">
            <a:avLst/>
          </a:prstGeom>
          <a:noFill/>
        </p:spPr>
        <p:txBody>
          <a:bodyPr wrap="square">
            <a:spAutoFit/>
          </a:bodyPr>
          <a:lstStyle/>
          <a:p>
            <a:pPr algn="l"/>
            <a:r>
              <a:rPr sz="1100" b="1" i="0">
                <a:solidFill>
                  <a:srgbClr val="8B6914"/>
                </a:solidFill>
                <a:latin typeface="Calibri"/>
              </a:rPr>
              <a:t>¿Para quién es esta opción?</a:t>
            </a:r>
          </a:p>
        </p:txBody>
      </p:sp>
      <p:sp>
        <p:nvSpPr>
          <p:cNvPr id="41" name="TextBox 40"/>
          <p:cNvSpPr txBox="1"/>
          <p:nvPr/>
        </p:nvSpPr>
        <p:spPr>
          <a:xfrm>
            <a:off x="1005840" y="5458968"/>
            <a:ext cx="10515600" cy="868680"/>
          </a:xfrm>
          <a:prstGeom prst="rect">
            <a:avLst/>
          </a:prstGeom>
          <a:noFill/>
        </p:spPr>
        <p:txBody>
          <a:bodyPr wrap="square">
            <a:spAutoFit/>
          </a:bodyPr>
          <a:lstStyle/>
          <a:p>
            <a:pPr algn="l"/>
            <a:r>
              <a:rPr sz="1200" b="0" i="0">
                <a:solidFill>
                  <a:srgbClr val="1A1A1A"/>
                </a:solidFill>
                <a:latin typeface="Calibri"/>
              </a:rPr>
              <a:t>Ideal si el cliente quiere posicionarse como tienda especializada con un catálogo completo. El nombre funciona especialmente bien si se proyecta también hacia una comunidad online (blog, redes, foro de entusiastas).</a:t>
            </a:r>
          </a:p>
        </p:txBody>
      </p:sp>
      <p:sp>
        <p:nvSpPr>
          <p:cNvPr id="42" name="Rectangle 41"/>
          <p:cNvSpPr/>
          <p:nvPr/>
        </p:nvSpPr>
        <p:spPr>
          <a:xfrm>
            <a:off x="411480" y="6492240"/>
            <a:ext cx="11777472" cy="45720"/>
          </a:xfrm>
          <a:prstGeom prst="rect">
            <a:avLst/>
          </a:prstGeom>
          <a:solidFill>
            <a:srgbClr val="8B6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0E8"/>
        </a:solidFill>
        <a:effectLst/>
      </p:bgPr>
    </p:bg>
    <p:spTree>
      <p:nvGrpSpPr>
        <p:cNvPr id="1" name=""/>
        <p:cNvGrpSpPr/>
        <p:nvPr/>
      </p:nvGrpSpPr>
      <p:grpSpPr/>
      <p:sp>
        <p:nvSpPr>
          <p:cNvPr id="2" name="Rectangle 1"/>
          <p:cNvSpPr/>
          <p:nvPr/>
        </p:nvSpPr>
        <p:spPr>
          <a:xfrm>
            <a:off x="0" y="0"/>
            <a:ext cx="411480" cy="6858000"/>
          </a:xfrm>
          <a:prstGeom prst="rect">
            <a:avLst/>
          </a:prstGeom>
          <a:solidFill>
            <a:srgbClr val="8B6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11480" y="0"/>
            <a:ext cx="11777472" cy="59436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3657600" cy="384048"/>
          </a:xfrm>
          <a:prstGeom prst="rect">
            <a:avLst/>
          </a:prstGeom>
          <a:noFill/>
        </p:spPr>
        <p:txBody>
          <a:bodyPr wrap="square">
            <a:spAutoFit/>
          </a:bodyPr>
          <a:lstStyle/>
          <a:p>
            <a:pPr algn="l"/>
            <a:r>
              <a:rPr sz="1400" b="0" i="0">
                <a:solidFill>
                  <a:srgbClr val="F5F0E8"/>
                </a:solidFill>
                <a:latin typeface="Calibri"/>
              </a:rPr>
              <a:t>Opción 3 de 3</a:t>
            </a:r>
          </a:p>
        </p:txBody>
      </p:sp>
      <p:sp>
        <p:nvSpPr>
          <p:cNvPr id="5" name="Rectangle 4"/>
          <p:cNvSpPr/>
          <p:nvPr/>
        </p:nvSpPr>
        <p:spPr>
          <a:xfrm>
            <a:off x="9144000" y="91440"/>
            <a:ext cx="2651760" cy="41148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0" y="100584"/>
            <a:ext cx="2651760" cy="411480"/>
          </a:xfrm>
          <a:prstGeom prst="rect">
            <a:avLst/>
          </a:prstGeom>
          <a:noFill/>
        </p:spPr>
        <p:txBody>
          <a:bodyPr wrap="square">
            <a:spAutoFit/>
          </a:bodyPr>
          <a:lstStyle/>
          <a:p>
            <a:pPr algn="ctr"/>
            <a:r>
              <a:rPr sz="1300" b="1" i="0">
                <a:solidFill>
                  <a:srgbClr val="FFFFFF"/>
                </a:solidFill>
                <a:latin typeface="Calibri"/>
              </a:rPr>
              <a:t>DISPONIBLE</a:t>
            </a:r>
          </a:p>
        </p:txBody>
      </p:sp>
      <p:sp>
        <p:nvSpPr>
          <p:cNvPr id="7" name="TextBox 6"/>
          <p:cNvSpPr txBox="1"/>
          <p:nvPr/>
        </p:nvSpPr>
        <p:spPr>
          <a:xfrm>
            <a:off x="731520" y="749808"/>
            <a:ext cx="10972800" cy="914400"/>
          </a:xfrm>
          <a:prstGeom prst="rect">
            <a:avLst/>
          </a:prstGeom>
          <a:noFill/>
        </p:spPr>
        <p:txBody>
          <a:bodyPr wrap="square">
            <a:spAutoFit/>
          </a:bodyPr>
          <a:lstStyle/>
          <a:p>
            <a:pPr algn="l"/>
            <a:r>
              <a:rPr sz="4000" b="1" i="0">
                <a:solidFill>
                  <a:srgbClr val="1A1A1A"/>
                </a:solidFill>
                <a:latin typeface="Georgia"/>
              </a:rPr>
              <a:t>mundodeltabaco.cl</a:t>
            </a:r>
          </a:p>
        </p:txBody>
      </p:sp>
      <p:sp>
        <p:nvSpPr>
          <p:cNvPr id="8" name="TextBox 7"/>
          <p:cNvSpPr txBox="1"/>
          <p:nvPr/>
        </p:nvSpPr>
        <p:spPr>
          <a:xfrm>
            <a:off x="731520" y="1554480"/>
            <a:ext cx="10972800" cy="365760"/>
          </a:xfrm>
          <a:prstGeom prst="rect">
            <a:avLst/>
          </a:prstGeom>
          <a:noFill/>
        </p:spPr>
        <p:txBody>
          <a:bodyPr wrap="square">
            <a:spAutoFit/>
          </a:bodyPr>
          <a:lstStyle/>
          <a:p>
            <a:pPr algn="l"/>
            <a:r>
              <a:rPr sz="1400" b="0" i="1">
                <a:solidFill>
                  <a:srgbClr val="8B6914"/>
                </a:solidFill>
                <a:latin typeface="Calibri"/>
              </a:rPr>
              <a:t>Amplitud · Variedad · El catálogo más completo</a:t>
            </a:r>
          </a:p>
        </p:txBody>
      </p:sp>
      <p:sp>
        <p:nvSpPr>
          <p:cNvPr id="9" name="Rectangle 8"/>
          <p:cNvSpPr/>
          <p:nvPr/>
        </p:nvSpPr>
        <p:spPr>
          <a:xfrm>
            <a:off x="731520" y="2011680"/>
            <a:ext cx="10698480" cy="27432"/>
          </a:xfrm>
          <a:prstGeom prst="rect">
            <a:avLst/>
          </a:prstGeom>
          <a:solidFill>
            <a:srgbClr val="8B6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2148840"/>
            <a:ext cx="6217920" cy="274320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2286000"/>
            <a:ext cx="5943600" cy="2468880"/>
          </a:xfrm>
          <a:prstGeom prst="rect">
            <a:avLst/>
          </a:prstGeom>
          <a:noFill/>
        </p:spPr>
        <p:txBody>
          <a:bodyPr wrap="square">
            <a:spAutoFit/>
          </a:bodyPr>
          <a:lstStyle/>
          <a:p>
            <a:pPr algn="l"/>
            <a:r>
              <a:rPr sz="1300" b="0" i="0">
                <a:solidFill>
                  <a:srgbClr val="F5F0E8"/>
                </a:solidFill>
                <a:latin typeface="Calibri"/>
              </a:rPr>
              <a:t>"Mundo" comunica amplitud de catálogo y aspiración: no es una tienda más, es el mundo completo del tabaco y sus accesorios.
Es el nombre más ambicioso de las tres opciones. Invita al usuario a explorar y descubrir, lo que favorece el tiempo en el sitio y las ventas cruzadas.
Con 'tabaco' en el dominio mantiene la relevancia SEO. Es algo más largo, pero igualmente claro y profesional.</a:t>
            </a:r>
          </a:p>
        </p:txBody>
      </p:sp>
      <p:sp>
        <p:nvSpPr>
          <p:cNvPr id="12" name="Rectangle 11"/>
          <p:cNvSpPr/>
          <p:nvPr/>
        </p:nvSpPr>
        <p:spPr>
          <a:xfrm>
            <a:off x="7132320" y="2148840"/>
            <a:ext cx="4754880" cy="2743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269480" y="2267712"/>
            <a:ext cx="4480560" cy="292608"/>
          </a:xfrm>
          <a:prstGeom prst="rect">
            <a:avLst/>
          </a:prstGeom>
          <a:noFill/>
        </p:spPr>
        <p:txBody>
          <a:bodyPr wrap="square">
            <a:spAutoFit/>
          </a:bodyPr>
          <a:lstStyle/>
          <a:p>
            <a:pPr algn="l"/>
            <a:r>
              <a:rPr sz="1200" b="1" i="0">
                <a:solidFill>
                  <a:srgbClr val="8B6914"/>
                </a:solidFill>
                <a:latin typeface="Calibri"/>
              </a:rPr>
              <a:t>Análisis estratégico</a:t>
            </a:r>
          </a:p>
        </p:txBody>
      </p:sp>
      <p:sp>
        <p:nvSpPr>
          <p:cNvPr id="14" name="TextBox 13"/>
          <p:cNvSpPr txBox="1"/>
          <p:nvPr/>
        </p:nvSpPr>
        <p:spPr>
          <a:xfrm>
            <a:off x="7269480" y="2633472"/>
            <a:ext cx="2011680" cy="256032"/>
          </a:xfrm>
          <a:prstGeom prst="rect">
            <a:avLst/>
          </a:prstGeom>
          <a:noFill/>
        </p:spPr>
        <p:txBody>
          <a:bodyPr wrap="square">
            <a:spAutoFit/>
          </a:bodyPr>
          <a:lstStyle/>
          <a:p>
            <a:pPr algn="l"/>
            <a:r>
              <a:rPr sz="1000" b="0" i="0">
                <a:solidFill>
                  <a:srgbClr val="444444"/>
                </a:solidFill>
                <a:latin typeface="Calibri"/>
              </a:rPr>
              <a:t>SEO / Busqueda organica</a:t>
            </a:r>
          </a:p>
        </p:txBody>
      </p:sp>
      <p:sp>
        <p:nvSpPr>
          <p:cNvPr id="15" name="Rectangle 14"/>
          <p:cNvSpPr/>
          <p:nvPr/>
        </p:nvSpPr>
        <p:spPr>
          <a:xfrm>
            <a:off x="9326880" y="2670048"/>
            <a:ext cx="246888" cy="164592"/>
          </a:xfrm>
          <a:prstGeom prst="rect">
            <a:avLst/>
          </a:prstGeom>
          <a:solidFill>
            <a:srgbClr val="8B6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9619488" y="2670048"/>
            <a:ext cx="246888" cy="164592"/>
          </a:xfrm>
          <a:prstGeom prst="rect">
            <a:avLst/>
          </a:prstGeom>
          <a:solidFill>
            <a:srgbClr val="8B6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9912096" y="2670048"/>
            <a:ext cx="246888" cy="164592"/>
          </a:xfrm>
          <a:prstGeom prst="rect">
            <a:avLst/>
          </a:prstGeom>
          <a:solidFill>
            <a:srgbClr val="8B6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0204704" y="2670048"/>
            <a:ext cx="246888" cy="164592"/>
          </a:xfrm>
          <a:prstGeom prst="rect">
            <a:avLst/>
          </a:prstGeom>
          <a:solidFill>
            <a:srgbClr val="8B6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0497311" y="2670048"/>
            <a:ext cx="246888" cy="164592"/>
          </a:xfrm>
          <a:prstGeom prst="rect">
            <a:avLst/>
          </a:prstGeom>
          <a:solidFill>
            <a:srgbClr val="8B6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69480" y="2980944"/>
            <a:ext cx="2011680" cy="256032"/>
          </a:xfrm>
          <a:prstGeom prst="rect">
            <a:avLst/>
          </a:prstGeom>
          <a:noFill/>
        </p:spPr>
        <p:txBody>
          <a:bodyPr wrap="square">
            <a:spAutoFit/>
          </a:bodyPr>
          <a:lstStyle/>
          <a:p>
            <a:pPr algn="l"/>
            <a:r>
              <a:rPr sz="1000" b="0" i="0">
                <a:solidFill>
                  <a:srgbClr val="444444"/>
                </a:solidFill>
                <a:latin typeface="Calibri"/>
              </a:rPr>
              <a:t>Facilidad de recordar</a:t>
            </a:r>
          </a:p>
        </p:txBody>
      </p:sp>
      <p:sp>
        <p:nvSpPr>
          <p:cNvPr id="21" name="Rectangle 20"/>
          <p:cNvSpPr/>
          <p:nvPr/>
        </p:nvSpPr>
        <p:spPr>
          <a:xfrm>
            <a:off x="9326880" y="3017520"/>
            <a:ext cx="246888" cy="164592"/>
          </a:xfrm>
          <a:prstGeom prst="rect">
            <a:avLst/>
          </a:prstGeom>
          <a:solidFill>
            <a:srgbClr val="8B6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619488" y="3017520"/>
            <a:ext cx="246888" cy="164592"/>
          </a:xfrm>
          <a:prstGeom prst="rect">
            <a:avLst/>
          </a:prstGeom>
          <a:solidFill>
            <a:srgbClr val="8B6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912096" y="3017520"/>
            <a:ext cx="246888" cy="164592"/>
          </a:xfrm>
          <a:prstGeom prst="rect">
            <a:avLst/>
          </a:prstGeom>
          <a:solidFill>
            <a:srgbClr val="8B6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0204704" y="3017520"/>
            <a:ext cx="246888" cy="164592"/>
          </a:xfrm>
          <a:prstGeom prst="rect">
            <a:avLst/>
          </a:prstGeom>
          <a:solidFill>
            <a:srgbClr val="8B6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0497311" y="3017520"/>
            <a:ext cx="246888" cy="164592"/>
          </a:xfrm>
          <a:prstGeom prst="rect">
            <a:avLst/>
          </a:prstGeom>
          <a:solidFill>
            <a:srgbClr val="EE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269480" y="3328416"/>
            <a:ext cx="2011680" cy="256032"/>
          </a:xfrm>
          <a:prstGeom prst="rect">
            <a:avLst/>
          </a:prstGeom>
          <a:noFill/>
        </p:spPr>
        <p:txBody>
          <a:bodyPr wrap="square">
            <a:spAutoFit/>
          </a:bodyPr>
          <a:lstStyle/>
          <a:p>
            <a:pPr algn="l"/>
            <a:r>
              <a:rPr sz="1000" b="0" i="0">
                <a:solidFill>
                  <a:srgbClr val="444444"/>
                </a:solidFill>
                <a:latin typeface="Calibri"/>
              </a:rPr>
              <a:t>Diferenciacion de marca</a:t>
            </a:r>
          </a:p>
        </p:txBody>
      </p:sp>
      <p:sp>
        <p:nvSpPr>
          <p:cNvPr id="27" name="Rectangle 26"/>
          <p:cNvSpPr/>
          <p:nvPr/>
        </p:nvSpPr>
        <p:spPr>
          <a:xfrm>
            <a:off x="9326880" y="3364992"/>
            <a:ext cx="246888" cy="164592"/>
          </a:xfrm>
          <a:prstGeom prst="rect">
            <a:avLst/>
          </a:prstGeom>
          <a:solidFill>
            <a:srgbClr val="8B6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619488" y="3364992"/>
            <a:ext cx="246888" cy="164592"/>
          </a:xfrm>
          <a:prstGeom prst="rect">
            <a:avLst/>
          </a:prstGeom>
          <a:solidFill>
            <a:srgbClr val="8B6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912096" y="3364992"/>
            <a:ext cx="246888" cy="164592"/>
          </a:xfrm>
          <a:prstGeom prst="rect">
            <a:avLst/>
          </a:prstGeom>
          <a:solidFill>
            <a:srgbClr val="8B6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0204704" y="3364992"/>
            <a:ext cx="246888" cy="164592"/>
          </a:xfrm>
          <a:prstGeom prst="rect">
            <a:avLst/>
          </a:prstGeom>
          <a:solidFill>
            <a:srgbClr val="8B6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10497311" y="3364992"/>
            <a:ext cx="246888" cy="164592"/>
          </a:xfrm>
          <a:prstGeom prst="rect">
            <a:avLst/>
          </a:prstGeom>
          <a:solidFill>
            <a:srgbClr val="8B6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269480" y="3675887"/>
            <a:ext cx="2011680" cy="256032"/>
          </a:xfrm>
          <a:prstGeom prst="rect">
            <a:avLst/>
          </a:prstGeom>
          <a:noFill/>
        </p:spPr>
        <p:txBody>
          <a:bodyPr wrap="square">
            <a:spAutoFit/>
          </a:bodyPr>
          <a:lstStyle/>
          <a:p>
            <a:pPr algn="l"/>
            <a:r>
              <a:rPr sz="1000" b="0" i="0">
                <a:solidFill>
                  <a:srgbClr val="444444"/>
                </a:solidFill>
                <a:latin typeface="Calibri"/>
              </a:rPr>
              <a:t>Escalabilidad de marca</a:t>
            </a:r>
          </a:p>
        </p:txBody>
      </p:sp>
      <p:sp>
        <p:nvSpPr>
          <p:cNvPr id="33" name="Rectangle 32"/>
          <p:cNvSpPr/>
          <p:nvPr/>
        </p:nvSpPr>
        <p:spPr>
          <a:xfrm>
            <a:off x="9326880" y="3712463"/>
            <a:ext cx="246888" cy="164592"/>
          </a:xfrm>
          <a:prstGeom prst="rect">
            <a:avLst/>
          </a:prstGeom>
          <a:solidFill>
            <a:srgbClr val="8B6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619488" y="3712463"/>
            <a:ext cx="246888" cy="164592"/>
          </a:xfrm>
          <a:prstGeom prst="rect">
            <a:avLst/>
          </a:prstGeom>
          <a:solidFill>
            <a:srgbClr val="8B6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912096" y="3712463"/>
            <a:ext cx="246888" cy="164592"/>
          </a:xfrm>
          <a:prstGeom prst="rect">
            <a:avLst/>
          </a:prstGeom>
          <a:solidFill>
            <a:srgbClr val="8B6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10204704" y="3712463"/>
            <a:ext cx="246888" cy="164592"/>
          </a:xfrm>
          <a:prstGeom prst="rect">
            <a:avLst/>
          </a:prstGeom>
          <a:solidFill>
            <a:srgbClr val="8B6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10497311" y="3712463"/>
            <a:ext cx="246888" cy="164592"/>
          </a:xfrm>
          <a:prstGeom prst="rect">
            <a:avLst/>
          </a:prstGeom>
          <a:solidFill>
            <a:srgbClr val="EE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31520" y="5074920"/>
            <a:ext cx="11064240" cy="1371600"/>
          </a:xfrm>
          <a:prstGeom prst="rect">
            <a:avLst/>
          </a:prstGeom>
          <a:solidFill>
            <a:srgbClr val="EE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731520" y="5074920"/>
            <a:ext cx="73152" cy="1371600"/>
          </a:xfrm>
          <a:prstGeom prst="rect">
            <a:avLst/>
          </a:prstGeom>
          <a:solidFill>
            <a:srgbClr val="8B6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05840" y="5138928"/>
            <a:ext cx="10607040" cy="292608"/>
          </a:xfrm>
          <a:prstGeom prst="rect">
            <a:avLst/>
          </a:prstGeom>
          <a:noFill/>
        </p:spPr>
        <p:txBody>
          <a:bodyPr wrap="square">
            <a:spAutoFit/>
          </a:bodyPr>
          <a:lstStyle/>
          <a:p>
            <a:pPr algn="l"/>
            <a:r>
              <a:rPr sz="1100" b="1" i="0">
                <a:solidFill>
                  <a:srgbClr val="8B6914"/>
                </a:solidFill>
                <a:latin typeface="Calibri"/>
              </a:rPr>
              <a:t>¿Para quién es esta opción?</a:t>
            </a:r>
          </a:p>
        </p:txBody>
      </p:sp>
      <p:sp>
        <p:nvSpPr>
          <p:cNvPr id="41" name="TextBox 40"/>
          <p:cNvSpPr txBox="1"/>
          <p:nvPr/>
        </p:nvSpPr>
        <p:spPr>
          <a:xfrm>
            <a:off x="1005840" y="5458968"/>
            <a:ext cx="10515600" cy="868680"/>
          </a:xfrm>
          <a:prstGeom prst="rect">
            <a:avLst/>
          </a:prstGeom>
          <a:noFill/>
        </p:spPr>
        <p:txBody>
          <a:bodyPr wrap="square">
            <a:spAutoFit/>
          </a:bodyPr>
          <a:lstStyle/>
          <a:p>
            <a:pPr algn="l"/>
            <a:r>
              <a:rPr sz="1200" b="0" i="0">
                <a:solidFill>
                  <a:srgbClr val="1A1A1A"/>
                </a:solidFill>
                <a:latin typeface="Calibri"/>
              </a:rPr>
              <a:t>Ideal si el cliente planea tener el catálogo más amplio del mercado: tabaco, accesorios, vaporizadores, papelillos, grinders y más. El nombre escala bien con el crecimiento del negocio.</a:t>
            </a:r>
          </a:p>
        </p:txBody>
      </p:sp>
      <p:sp>
        <p:nvSpPr>
          <p:cNvPr id="42" name="Rectangle 41"/>
          <p:cNvSpPr/>
          <p:nvPr/>
        </p:nvSpPr>
        <p:spPr>
          <a:xfrm>
            <a:off x="411480" y="6492240"/>
            <a:ext cx="11777472" cy="45720"/>
          </a:xfrm>
          <a:prstGeom prst="rect">
            <a:avLst/>
          </a:prstGeom>
          <a:solidFill>
            <a:srgbClr val="8B6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Rectangle 1"/>
          <p:cNvSpPr/>
          <p:nvPr/>
        </p:nvSpPr>
        <p:spPr>
          <a:xfrm>
            <a:off x="0" y="0"/>
            <a:ext cx="411480" cy="6858000"/>
          </a:xfrm>
          <a:prstGeom prst="rect">
            <a:avLst/>
          </a:prstGeom>
          <a:solidFill>
            <a:srgbClr val="8B6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11480" y="0"/>
            <a:ext cx="11777472" cy="594360"/>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10972800" cy="411480"/>
          </a:xfrm>
          <a:prstGeom prst="rect">
            <a:avLst/>
          </a:prstGeom>
          <a:noFill/>
        </p:spPr>
        <p:txBody>
          <a:bodyPr wrap="square">
            <a:spAutoFit/>
          </a:bodyPr>
          <a:lstStyle/>
          <a:p>
            <a:pPr algn="l"/>
            <a:r>
              <a:rPr sz="2000" b="1" i="0">
                <a:solidFill>
                  <a:srgbClr val="F5F0E8"/>
                </a:solidFill>
                <a:latin typeface="Georgia"/>
              </a:rPr>
              <a:t>Comparativa de opciones</a:t>
            </a:r>
          </a:p>
        </p:txBody>
      </p:sp>
      <p:sp>
        <p:nvSpPr>
          <p:cNvPr id="5" name="Rectangle 4"/>
          <p:cNvSpPr/>
          <p:nvPr/>
        </p:nvSpPr>
        <p:spPr>
          <a:xfrm>
            <a:off x="640080" y="1051560"/>
            <a:ext cx="2743200" cy="411480"/>
          </a:xfrm>
          <a:prstGeom prst="rect">
            <a:avLst/>
          </a:prstGeom>
          <a:solidFill>
            <a:srgbClr val="8B6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078992"/>
            <a:ext cx="2743200" cy="365760"/>
          </a:xfrm>
          <a:prstGeom prst="rect">
            <a:avLst/>
          </a:prstGeom>
          <a:noFill/>
        </p:spPr>
        <p:txBody>
          <a:bodyPr wrap="square">
            <a:spAutoFit/>
          </a:bodyPr>
          <a:lstStyle/>
          <a:p>
            <a:pPr algn="ctr"/>
            <a:r>
              <a:rPr sz="1200" b="1" i="0">
                <a:solidFill>
                  <a:srgbClr val="1A1A1A"/>
                </a:solidFill>
                <a:latin typeface="Calibri"/>
              </a:rPr>
              <a:t>Dominio</a:t>
            </a:r>
          </a:p>
        </p:txBody>
      </p:sp>
      <p:sp>
        <p:nvSpPr>
          <p:cNvPr id="7" name="Rectangle 6"/>
          <p:cNvSpPr/>
          <p:nvPr/>
        </p:nvSpPr>
        <p:spPr>
          <a:xfrm>
            <a:off x="3520440" y="1051560"/>
            <a:ext cx="1920240" cy="411480"/>
          </a:xfrm>
          <a:prstGeom prst="rect">
            <a:avLst/>
          </a:prstGeom>
          <a:solidFill>
            <a:srgbClr val="8B6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520440" y="1078992"/>
            <a:ext cx="1920240" cy="365760"/>
          </a:xfrm>
          <a:prstGeom prst="rect">
            <a:avLst/>
          </a:prstGeom>
          <a:noFill/>
        </p:spPr>
        <p:txBody>
          <a:bodyPr wrap="square">
            <a:spAutoFit/>
          </a:bodyPr>
          <a:lstStyle/>
          <a:p>
            <a:pPr algn="ctr"/>
            <a:r>
              <a:rPr sz="1200" b="1" i="0">
                <a:solidFill>
                  <a:srgbClr val="1A1A1A"/>
                </a:solidFill>
                <a:latin typeface="Calibri"/>
              </a:rPr>
              <a:t>SEO</a:t>
            </a:r>
          </a:p>
        </p:txBody>
      </p:sp>
      <p:sp>
        <p:nvSpPr>
          <p:cNvPr id="9" name="Rectangle 8"/>
          <p:cNvSpPr/>
          <p:nvPr/>
        </p:nvSpPr>
        <p:spPr>
          <a:xfrm>
            <a:off x="5577840" y="1051560"/>
            <a:ext cx="1920240" cy="411480"/>
          </a:xfrm>
          <a:prstGeom prst="rect">
            <a:avLst/>
          </a:prstGeom>
          <a:solidFill>
            <a:srgbClr val="8B6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577840" y="1078992"/>
            <a:ext cx="1920240" cy="365760"/>
          </a:xfrm>
          <a:prstGeom prst="rect">
            <a:avLst/>
          </a:prstGeom>
          <a:noFill/>
        </p:spPr>
        <p:txBody>
          <a:bodyPr wrap="square">
            <a:spAutoFit/>
          </a:bodyPr>
          <a:lstStyle/>
          <a:p>
            <a:pPr algn="ctr"/>
            <a:r>
              <a:rPr sz="1200" b="1" i="0">
                <a:solidFill>
                  <a:srgbClr val="1A1A1A"/>
                </a:solidFill>
                <a:latin typeface="Calibri"/>
              </a:rPr>
              <a:t>Memoria</a:t>
            </a:r>
          </a:p>
        </p:txBody>
      </p:sp>
      <p:sp>
        <p:nvSpPr>
          <p:cNvPr id="11" name="Rectangle 10"/>
          <p:cNvSpPr/>
          <p:nvPr/>
        </p:nvSpPr>
        <p:spPr>
          <a:xfrm>
            <a:off x="7635240" y="1051560"/>
            <a:ext cx="1920240" cy="411480"/>
          </a:xfrm>
          <a:prstGeom prst="rect">
            <a:avLst/>
          </a:prstGeom>
          <a:solidFill>
            <a:srgbClr val="8B6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35240" y="1078992"/>
            <a:ext cx="1920240" cy="365760"/>
          </a:xfrm>
          <a:prstGeom prst="rect">
            <a:avLst/>
          </a:prstGeom>
          <a:noFill/>
        </p:spPr>
        <p:txBody>
          <a:bodyPr wrap="square">
            <a:spAutoFit/>
          </a:bodyPr>
          <a:lstStyle/>
          <a:p>
            <a:pPr algn="ctr"/>
            <a:r>
              <a:rPr sz="1200" b="1" i="0">
                <a:solidFill>
                  <a:srgbClr val="1A1A1A"/>
                </a:solidFill>
                <a:latin typeface="Calibri"/>
              </a:rPr>
              <a:t>Diferenciacion</a:t>
            </a:r>
          </a:p>
        </p:txBody>
      </p:sp>
      <p:sp>
        <p:nvSpPr>
          <p:cNvPr id="13" name="Rectangle 12"/>
          <p:cNvSpPr/>
          <p:nvPr/>
        </p:nvSpPr>
        <p:spPr>
          <a:xfrm>
            <a:off x="9692640" y="1051560"/>
            <a:ext cx="1920240" cy="411480"/>
          </a:xfrm>
          <a:prstGeom prst="rect">
            <a:avLst/>
          </a:prstGeom>
          <a:solidFill>
            <a:srgbClr val="8B6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92640" y="1078992"/>
            <a:ext cx="1920240" cy="365760"/>
          </a:xfrm>
          <a:prstGeom prst="rect">
            <a:avLst/>
          </a:prstGeom>
          <a:noFill/>
        </p:spPr>
        <p:txBody>
          <a:bodyPr wrap="square">
            <a:spAutoFit/>
          </a:bodyPr>
          <a:lstStyle/>
          <a:p>
            <a:pPr algn="ctr"/>
            <a:r>
              <a:rPr sz="1200" b="1" i="0">
                <a:solidFill>
                  <a:srgbClr val="1A1A1A"/>
                </a:solidFill>
                <a:latin typeface="Calibri"/>
              </a:rPr>
              <a:t>Escalabilidad</a:t>
            </a:r>
          </a:p>
        </p:txBody>
      </p:sp>
      <p:sp>
        <p:nvSpPr>
          <p:cNvPr id="15" name="Rectangle 14"/>
          <p:cNvSpPr/>
          <p:nvPr/>
        </p:nvSpPr>
        <p:spPr>
          <a:xfrm>
            <a:off x="640080" y="1600200"/>
            <a:ext cx="2743200" cy="566928"/>
          </a:xfrm>
          <a:prstGeom prst="rect">
            <a:avLst/>
          </a:prstGeom>
          <a:solidFill>
            <a:srgbClr val="28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1673352"/>
            <a:ext cx="2743200" cy="420624"/>
          </a:xfrm>
          <a:prstGeom prst="rect">
            <a:avLst/>
          </a:prstGeom>
          <a:noFill/>
        </p:spPr>
        <p:txBody>
          <a:bodyPr wrap="square">
            <a:spAutoFit/>
          </a:bodyPr>
          <a:lstStyle/>
          <a:p>
            <a:pPr algn="ctr"/>
            <a:r>
              <a:rPr sz="1400" b="1" i="0">
                <a:solidFill>
                  <a:srgbClr val="8B6914"/>
                </a:solidFill>
                <a:latin typeface="Calibri"/>
              </a:rPr>
              <a:t>casadeltabaco.cl</a:t>
            </a:r>
          </a:p>
        </p:txBody>
      </p:sp>
      <p:sp>
        <p:nvSpPr>
          <p:cNvPr id="17" name="Rectangle 16"/>
          <p:cNvSpPr/>
          <p:nvPr/>
        </p:nvSpPr>
        <p:spPr>
          <a:xfrm>
            <a:off x="3520440" y="1600200"/>
            <a:ext cx="1920240" cy="566928"/>
          </a:xfrm>
          <a:prstGeom prst="rect">
            <a:avLst/>
          </a:prstGeom>
          <a:solidFill>
            <a:srgbClr val="28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20440" y="1673352"/>
            <a:ext cx="1920240" cy="420624"/>
          </a:xfrm>
          <a:prstGeom prst="rect">
            <a:avLst/>
          </a:prstGeom>
          <a:noFill/>
        </p:spPr>
        <p:txBody>
          <a:bodyPr wrap="square">
            <a:spAutoFit/>
          </a:bodyPr>
          <a:lstStyle/>
          <a:p>
            <a:pPr algn="ctr"/>
            <a:r>
              <a:rPr sz="1300" b="0" i="0">
                <a:solidFill>
                  <a:srgbClr val="F5F0E8"/>
                </a:solidFill>
                <a:latin typeface="Calibri"/>
              </a:rPr>
              <a:t>★★★★★</a:t>
            </a:r>
          </a:p>
        </p:txBody>
      </p:sp>
      <p:sp>
        <p:nvSpPr>
          <p:cNvPr id="19" name="Rectangle 18"/>
          <p:cNvSpPr/>
          <p:nvPr/>
        </p:nvSpPr>
        <p:spPr>
          <a:xfrm>
            <a:off x="5577840" y="1600200"/>
            <a:ext cx="1920240" cy="566928"/>
          </a:xfrm>
          <a:prstGeom prst="rect">
            <a:avLst/>
          </a:prstGeom>
          <a:solidFill>
            <a:srgbClr val="28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577840" y="1673352"/>
            <a:ext cx="1920240" cy="420624"/>
          </a:xfrm>
          <a:prstGeom prst="rect">
            <a:avLst/>
          </a:prstGeom>
          <a:noFill/>
        </p:spPr>
        <p:txBody>
          <a:bodyPr wrap="square">
            <a:spAutoFit/>
          </a:bodyPr>
          <a:lstStyle/>
          <a:p>
            <a:pPr algn="ctr"/>
            <a:r>
              <a:rPr sz="1300" b="0" i="0">
                <a:solidFill>
                  <a:srgbClr val="F5F0E8"/>
                </a:solidFill>
                <a:latin typeface="Calibri"/>
              </a:rPr>
              <a:t>★★★★★</a:t>
            </a:r>
          </a:p>
        </p:txBody>
      </p:sp>
      <p:sp>
        <p:nvSpPr>
          <p:cNvPr id="21" name="Rectangle 20"/>
          <p:cNvSpPr/>
          <p:nvPr/>
        </p:nvSpPr>
        <p:spPr>
          <a:xfrm>
            <a:off x="7635240" y="1600200"/>
            <a:ext cx="1920240" cy="566928"/>
          </a:xfrm>
          <a:prstGeom prst="rect">
            <a:avLst/>
          </a:prstGeom>
          <a:solidFill>
            <a:srgbClr val="28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635240" y="1673352"/>
            <a:ext cx="1920240" cy="420624"/>
          </a:xfrm>
          <a:prstGeom prst="rect">
            <a:avLst/>
          </a:prstGeom>
          <a:noFill/>
        </p:spPr>
        <p:txBody>
          <a:bodyPr wrap="square">
            <a:spAutoFit/>
          </a:bodyPr>
          <a:lstStyle/>
          <a:p>
            <a:pPr algn="ctr"/>
            <a:r>
              <a:rPr sz="1300" b="0" i="0">
                <a:solidFill>
                  <a:srgbClr val="F5F0E8"/>
                </a:solidFill>
                <a:latin typeface="Calibri"/>
              </a:rPr>
              <a:t>★★★★☆</a:t>
            </a:r>
          </a:p>
        </p:txBody>
      </p:sp>
      <p:sp>
        <p:nvSpPr>
          <p:cNvPr id="23" name="Rectangle 22"/>
          <p:cNvSpPr/>
          <p:nvPr/>
        </p:nvSpPr>
        <p:spPr>
          <a:xfrm>
            <a:off x="9692640" y="1600200"/>
            <a:ext cx="1920240" cy="566928"/>
          </a:xfrm>
          <a:prstGeom prst="rect">
            <a:avLst/>
          </a:prstGeom>
          <a:solidFill>
            <a:srgbClr val="28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92640" y="1673352"/>
            <a:ext cx="1920240" cy="420624"/>
          </a:xfrm>
          <a:prstGeom prst="rect">
            <a:avLst/>
          </a:prstGeom>
          <a:noFill/>
        </p:spPr>
        <p:txBody>
          <a:bodyPr wrap="square">
            <a:spAutoFit/>
          </a:bodyPr>
          <a:lstStyle/>
          <a:p>
            <a:pPr algn="ctr"/>
            <a:r>
              <a:rPr sz="1300" b="0" i="0">
                <a:solidFill>
                  <a:srgbClr val="F5F0E8"/>
                </a:solidFill>
                <a:latin typeface="Calibri"/>
              </a:rPr>
              <a:t>★★★★☆</a:t>
            </a:r>
          </a:p>
        </p:txBody>
      </p:sp>
      <p:sp>
        <p:nvSpPr>
          <p:cNvPr id="25" name="Rectangle 24"/>
          <p:cNvSpPr/>
          <p:nvPr/>
        </p:nvSpPr>
        <p:spPr>
          <a:xfrm>
            <a:off x="640080" y="2240280"/>
            <a:ext cx="2743200" cy="566928"/>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080" y="2313432"/>
            <a:ext cx="2743200" cy="420624"/>
          </a:xfrm>
          <a:prstGeom prst="rect">
            <a:avLst/>
          </a:prstGeom>
          <a:noFill/>
        </p:spPr>
        <p:txBody>
          <a:bodyPr wrap="square">
            <a:spAutoFit/>
          </a:bodyPr>
          <a:lstStyle/>
          <a:p>
            <a:pPr algn="ctr"/>
            <a:r>
              <a:rPr sz="1400" b="1" i="0">
                <a:solidFill>
                  <a:srgbClr val="8B6914"/>
                </a:solidFill>
                <a:latin typeface="Calibri"/>
              </a:rPr>
              <a:t>zonatabaco.cl</a:t>
            </a:r>
          </a:p>
        </p:txBody>
      </p:sp>
      <p:sp>
        <p:nvSpPr>
          <p:cNvPr id="27" name="Rectangle 26"/>
          <p:cNvSpPr/>
          <p:nvPr/>
        </p:nvSpPr>
        <p:spPr>
          <a:xfrm>
            <a:off x="3520440" y="2240280"/>
            <a:ext cx="1920240" cy="566928"/>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520440" y="2313432"/>
            <a:ext cx="1920240" cy="420624"/>
          </a:xfrm>
          <a:prstGeom prst="rect">
            <a:avLst/>
          </a:prstGeom>
          <a:noFill/>
        </p:spPr>
        <p:txBody>
          <a:bodyPr wrap="square">
            <a:spAutoFit/>
          </a:bodyPr>
          <a:lstStyle/>
          <a:p>
            <a:pPr algn="ctr"/>
            <a:r>
              <a:rPr sz="1300" b="0" i="0">
                <a:solidFill>
                  <a:srgbClr val="F5F0E8"/>
                </a:solidFill>
                <a:latin typeface="Calibri"/>
              </a:rPr>
              <a:t>★★★★★</a:t>
            </a:r>
          </a:p>
        </p:txBody>
      </p:sp>
      <p:sp>
        <p:nvSpPr>
          <p:cNvPr id="29" name="Rectangle 28"/>
          <p:cNvSpPr/>
          <p:nvPr/>
        </p:nvSpPr>
        <p:spPr>
          <a:xfrm>
            <a:off x="5577840" y="2240280"/>
            <a:ext cx="1920240" cy="566928"/>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577840" y="2313432"/>
            <a:ext cx="1920240" cy="420624"/>
          </a:xfrm>
          <a:prstGeom prst="rect">
            <a:avLst/>
          </a:prstGeom>
          <a:noFill/>
        </p:spPr>
        <p:txBody>
          <a:bodyPr wrap="square">
            <a:spAutoFit/>
          </a:bodyPr>
          <a:lstStyle/>
          <a:p>
            <a:pPr algn="ctr"/>
            <a:r>
              <a:rPr sz="1300" b="0" i="0">
                <a:solidFill>
                  <a:srgbClr val="F5F0E8"/>
                </a:solidFill>
                <a:latin typeface="Calibri"/>
              </a:rPr>
              <a:t>★★★★☆</a:t>
            </a:r>
          </a:p>
        </p:txBody>
      </p:sp>
      <p:sp>
        <p:nvSpPr>
          <p:cNvPr id="31" name="Rectangle 30"/>
          <p:cNvSpPr/>
          <p:nvPr/>
        </p:nvSpPr>
        <p:spPr>
          <a:xfrm>
            <a:off x="7635240" y="2240280"/>
            <a:ext cx="1920240" cy="566928"/>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635240" y="2313432"/>
            <a:ext cx="1920240" cy="420624"/>
          </a:xfrm>
          <a:prstGeom prst="rect">
            <a:avLst/>
          </a:prstGeom>
          <a:noFill/>
        </p:spPr>
        <p:txBody>
          <a:bodyPr wrap="square">
            <a:spAutoFit/>
          </a:bodyPr>
          <a:lstStyle/>
          <a:p>
            <a:pPr algn="ctr"/>
            <a:r>
              <a:rPr sz="1300" b="0" i="0">
                <a:solidFill>
                  <a:srgbClr val="F5F0E8"/>
                </a:solidFill>
                <a:latin typeface="Calibri"/>
              </a:rPr>
              <a:t>★★★★☆</a:t>
            </a:r>
          </a:p>
        </p:txBody>
      </p:sp>
      <p:sp>
        <p:nvSpPr>
          <p:cNvPr id="33" name="Rectangle 32"/>
          <p:cNvSpPr/>
          <p:nvPr/>
        </p:nvSpPr>
        <p:spPr>
          <a:xfrm>
            <a:off x="9692640" y="2240280"/>
            <a:ext cx="1920240" cy="566928"/>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692640" y="2313432"/>
            <a:ext cx="1920240" cy="420624"/>
          </a:xfrm>
          <a:prstGeom prst="rect">
            <a:avLst/>
          </a:prstGeom>
          <a:noFill/>
        </p:spPr>
        <p:txBody>
          <a:bodyPr wrap="square">
            <a:spAutoFit/>
          </a:bodyPr>
          <a:lstStyle/>
          <a:p>
            <a:pPr algn="ctr"/>
            <a:r>
              <a:rPr sz="1300" b="0" i="0">
                <a:solidFill>
                  <a:srgbClr val="F5F0E8"/>
                </a:solidFill>
                <a:latin typeface="Calibri"/>
              </a:rPr>
              <a:t>★★★☆☆</a:t>
            </a:r>
          </a:p>
        </p:txBody>
      </p:sp>
      <p:sp>
        <p:nvSpPr>
          <p:cNvPr id="35" name="Rectangle 34"/>
          <p:cNvSpPr/>
          <p:nvPr/>
        </p:nvSpPr>
        <p:spPr>
          <a:xfrm>
            <a:off x="640080" y="2880360"/>
            <a:ext cx="2743200" cy="566928"/>
          </a:xfrm>
          <a:prstGeom prst="rect">
            <a:avLst/>
          </a:prstGeom>
          <a:solidFill>
            <a:srgbClr val="28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40080" y="2953512"/>
            <a:ext cx="2743200" cy="420624"/>
          </a:xfrm>
          <a:prstGeom prst="rect">
            <a:avLst/>
          </a:prstGeom>
          <a:noFill/>
        </p:spPr>
        <p:txBody>
          <a:bodyPr wrap="square">
            <a:spAutoFit/>
          </a:bodyPr>
          <a:lstStyle/>
          <a:p>
            <a:pPr algn="ctr"/>
            <a:r>
              <a:rPr sz="1400" b="1" i="0">
                <a:solidFill>
                  <a:srgbClr val="8B6914"/>
                </a:solidFill>
                <a:latin typeface="Calibri"/>
              </a:rPr>
              <a:t>mundodeltabaco.cl</a:t>
            </a:r>
          </a:p>
        </p:txBody>
      </p:sp>
      <p:sp>
        <p:nvSpPr>
          <p:cNvPr id="37" name="Rectangle 36"/>
          <p:cNvSpPr/>
          <p:nvPr/>
        </p:nvSpPr>
        <p:spPr>
          <a:xfrm>
            <a:off x="3520440" y="2880360"/>
            <a:ext cx="1920240" cy="566928"/>
          </a:xfrm>
          <a:prstGeom prst="rect">
            <a:avLst/>
          </a:prstGeom>
          <a:solidFill>
            <a:srgbClr val="28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520440" y="2953512"/>
            <a:ext cx="1920240" cy="420624"/>
          </a:xfrm>
          <a:prstGeom prst="rect">
            <a:avLst/>
          </a:prstGeom>
          <a:noFill/>
        </p:spPr>
        <p:txBody>
          <a:bodyPr wrap="square">
            <a:spAutoFit/>
          </a:bodyPr>
          <a:lstStyle/>
          <a:p>
            <a:pPr algn="ctr"/>
            <a:r>
              <a:rPr sz="1300" b="0" i="0">
                <a:solidFill>
                  <a:srgbClr val="F5F0E8"/>
                </a:solidFill>
                <a:latin typeface="Calibri"/>
              </a:rPr>
              <a:t>★★★★★</a:t>
            </a:r>
          </a:p>
        </p:txBody>
      </p:sp>
      <p:sp>
        <p:nvSpPr>
          <p:cNvPr id="39" name="Rectangle 38"/>
          <p:cNvSpPr/>
          <p:nvPr/>
        </p:nvSpPr>
        <p:spPr>
          <a:xfrm>
            <a:off x="5577840" y="2880360"/>
            <a:ext cx="1920240" cy="566928"/>
          </a:xfrm>
          <a:prstGeom prst="rect">
            <a:avLst/>
          </a:prstGeom>
          <a:solidFill>
            <a:srgbClr val="28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577840" y="2953512"/>
            <a:ext cx="1920240" cy="420624"/>
          </a:xfrm>
          <a:prstGeom prst="rect">
            <a:avLst/>
          </a:prstGeom>
          <a:noFill/>
        </p:spPr>
        <p:txBody>
          <a:bodyPr wrap="square">
            <a:spAutoFit/>
          </a:bodyPr>
          <a:lstStyle/>
          <a:p>
            <a:pPr algn="ctr"/>
            <a:r>
              <a:rPr sz="1300" b="0" i="0">
                <a:solidFill>
                  <a:srgbClr val="F5F0E8"/>
                </a:solidFill>
                <a:latin typeface="Calibri"/>
              </a:rPr>
              <a:t>★★★★☆</a:t>
            </a:r>
          </a:p>
        </p:txBody>
      </p:sp>
      <p:sp>
        <p:nvSpPr>
          <p:cNvPr id="41" name="Rectangle 40"/>
          <p:cNvSpPr/>
          <p:nvPr/>
        </p:nvSpPr>
        <p:spPr>
          <a:xfrm>
            <a:off x="7635240" y="2880360"/>
            <a:ext cx="1920240" cy="566928"/>
          </a:xfrm>
          <a:prstGeom prst="rect">
            <a:avLst/>
          </a:prstGeom>
          <a:solidFill>
            <a:srgbClr val="28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35240" y="2953512"/>
            <a:ext cx="1920240" cy="420624"/>
          </a:xfrm>
          <a:prstGeom prst="rect">
            <a:avLst/>
          </a:prstGeom>
          <a:noFill/>
        </p:spPr>
        <p:txBody>
          <a:bodyPr wrap="square">
            <a:spAutoFit/>
          </a:bodyPr>
          <a:lstStyle/>
          <a:p>
            <a:pPr algn="ctr"/>
            <a:r>
              <a:rPr sz="1300" b="0" i="0">
                <a:solidFill>
                  <a:srgbClr val="F5F0E8"/>
                </a:solidFill>
                <a:latin typeface="Calibri"/>
              </a:rPr>
              <a:t>★★★★★</a:t>
            </a:r>
          </a:p>
        </p:txBody>
      </p:sp>
      <p:sp>
        <p:nvSpPr>
          <p:cNvPr id="43" name="Rectangle 42"/>
          <p:cNvSpPr/>
          <p:nvPr/>
        </p:nvSpPr>
        <p:spPr>
          <a:xfrm>
            <a:off x="9692640" y="2880360"/>
            <a:ext cx="1920240" cy="566928"/>
          </a:xfrm>
          <a:prstGeom prst="rect">
            <a:avLst/>
          </a:prstGeom>
          <a:solidFill>
            <a:srgbClr val="28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692640" y="2953512"/>
            <a:ext cx="1920240" cy="420624"/>
          </a:xfrm>
          <a:prstGeom prst="rect">
            <a:avLst/>
          </a:prstGeom>
          <a:noFill/>
        </p:spPr>
        <p:txBody>
          <a:bodyPr wrap="square">
            <a:spAutoFit/>
          </a:bodyPr>
          <a:lstStyle/>
          <a:p>
            <a:pPr algn="ctr"/>
            <a:r>
              <a:rPr sz="1300" b="0" i="0">
                <a:solidFill>
                  <a:srgbClr val="F5F0E8"/>
                </a:solidFill>
                <a:latin typeface="Calibri"/>
              </a:rPr>
              <a:t>★★★★★</a:t>
            </a:r>
          </a:p>
        </p:txBody>
      </p:sp>
      <p:sp>
        <p:nvSpPr>
          <p:cNvPr id="45" name="TextBox 44"/>
          <p:cNvSpPr txBox="1"/>
          <p:nvPr/>
        </p:nvSpPr>
        <p:spPr>
          <a:xfrm>
            <a:off x="731520" y="3657600"/>
            <a:ext cx="10972800" cy="320040"/>
          </a:xfrm>
          <a:prstGeom prst="rect">
            <a:avLst/>
          </a:prstGeom>
          <a:noFill/>
        </p:spPr>
        <p:txBody>
          <a:bodyPr wrap="square">
            <a:spAutoFit/>
          </a:bodyPr>
          <a:lstStyle/>
          <a:p>
            <a:pPr algn="ctr"/>
            <a:r>
              <a:rPr sz="1100" b="0" i="1">
                <a:solidFill>
                  <a:srgbClr val="959BA3"/>
                </a:solidFill>
                <a:latin typeface="Calibri"/>
              </a:rPr>
              <a:t>★★★★★ Excelente   ·   ★★★★ Muy bueno   ·   ★★★ Bueno</a:t>
            </a:r>
          </a:p>
        </p:txBody>
      </p:sp>
      <p:sp>
        <p:nvSpPr>
          <p:cNvPr id="46" name="Rectangle 45"/>
          <p:cNvSpPr/>
          <p:nvPr/>
        </p:nvSpPr>
        <p:spPr>
          <a:xfrm>
            <a:off x="731520" y="4160520"/>
            <a:ext cx="11064240" cy="1325880"/>
          </a:xfrm>
          <a:prstGeom prst="rect">
            <a:avLst/>
          </a:prstGeom>
          <a:solidFill>
            <a:srgbClr val="251E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731520" y="4160520"/>
            <a:ext cx="73152" cy="1325880"/>
          </a:xfrm>
          <a:prstGeom prst="rect">
            <a:avLst/>
          </a:prstGeom>
          <a:solidFill>
            <a:srgbClr val="8B6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005840" y="4251960"/>
            <a:ext cx="10607040" cy="320040"/>
          </a:xfrm>
          <a:prstGeom prst="rect">
            <a:avLst/>
          </a:prstGeom>
          <a:noFill/>
        </p:spPr>
        <p:txBody>
          <a:bodyPr wrap="square">
            <a:spAutoFit/>
          </a:bodyPr>
          <a:lstStyle/>
          <a:p>
            <a:pPr algn="l"/>
            <a:r>
              <a:rPr sz="1300" b="1" i="0">
                <a:solidFill>
                  <a:srgbClr val="8B6914"/>
                </a:solidFill>
                <a:latin typeface="Calibri"/>
              </a:rPr>
              <a:t>Recomendacion</a:t>
            </a:r>
          </a:p>
        </p:txBody>
      </p:sp>
      <p:sp>
        <p:nvSpPr>
          <p:cNvPr id="49" name="TextBox 48"/>
          <p:cNvSpPr txBox="1"/>
          <p:nvPr/>
        </p:nvSpPr>
        <p:spPr>
          <a:xfrm>
            <a:off x="1005840" y="4590288"/>
            <a:ext cx="10515600" cy="777240"/>
          </a:xfrm>
          <a:prstGeom prst="rect">
            <a:avLst/>
          </a:prstGeom>
          <a:noFill/>
        </p:spPr>
        <p:txBody>
          <a:bodyPr wrap="square">
            <a:spAutoFit/>
          </a:bodyPr>
          <a:lstStyle/>
          <a:p>
            <a:pPr algn="l"/>
            <a:r>
              <a:rPr sz="1200" b="0" i="0">
                <a:solidFill>
                  <a:srgbClr val="F5F0E8"/>
                </a:solidFill>
                <a:latin typeface="Calibri"/>
              </a:rPr>
              <a:t>casadeltabaco.cl ofrece el mejor equilibrio entre SEO, claridad y posicionamiento de marca. mundodeltabaco.cl es la mejor opción si el cliente proyecta un catálogo amplio y ambicioso a largo plazo.</a:t>
            </a:r>
          </a:p>
        </p:txBody>
      </p:sp>
      <p:sp>
        <p:nvSpPr>
          <p:cNvPr id="50" name="Rectangle 49"/>
          <p:cNvSpPr/>
          <p:nvPr/>
        </p:nvSpPr>
        <p:spPr>
          <a:xfrm>
            <a:off x="411480" y="6492240"/>
            <a:ext cx="11777472" cy="45720"/>
          </a:xfrm>
          <a:prstGeom prst="rect">
            <a:avLst/>
          </a:prstGeom>
          <a:solidFill>
            <a:srgbClr val="8B6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Rectangle 1"/>
          <p:cNvSpPr/>
          <p:nvPr/>
        </p:nvSpPr>
        <p:spPr>
          <a:xfrm>
            <a:off x="0" y="0"/>
            <a:ext cx="411480" cy="6858000"/>
          </a:xfrm>
          <a:prstGeom prst="rect">
            <a:avLst/>
          </a:prstGeom>
          <a:solidFill>
            <a:srgbClr val="8B6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11480" y="0"/>
            <a:ext cx="11777472" cy="59436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10972800" cy="411480"/>
          </a:xfrm>
          <a:prstGeom prst="rect">
            <a:avLst/>
          </a:prstGeom>
          <a:noFill/>
        </p:spPr>
        <p:txBody>
          <a:bodyPr wrap="square">
            <a:spAutoFit/>
          </a:bodyPr>
          <a:lstStyle/>
          <a:p>
            <a:pPr algn="l"/>
            <a:r>
              <a:rPr sz="2000" b="1" i="0">
                <a:solidFill>
                  <a:srgbClr val="F5F0E8"/>
                </a:solidFill>
                <a:latin typeface="Georgia"/>
              </a:rPr>
              <a:t>Próximos pasos</a:t>
            </a:r>
          </a:p>
        </p:txBody>
      </p:sp>
      <p:sp>
        <p:nvSpPr>
          <p:cNvPr id="5" name="Rectangle 4"/>
          <p:cNvSpPr/>
          <p:nvPr/>
        </p:nvSpPr>
        <p:spPr>
          <a:xfrm>
            <a:off x="731520" y="960120"/>
            <a:ext cx="5394960" cy="2011680"/>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960120"/>
            <a:ext cx="73152" cy="2011680"/>
          </a:xfrm>
          <a:prstGeom prst="rect">
            <a:avLst/>
          </a:prstGeom>
          <a:solidFill>
            <a:srgbClr val="8B6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069848"/>
            <a:ext cx="1371600" cy="548640"/>
          </a:xfrm>
          <a:prstGeom prst="rect">
            <a:avLst/>
          </a:prstGeom>
          <a:noFill/>
        </p:spPr>
        <p:txBody>
          <a:bodyPr wrap="none">
            <a:spAutoFit/>
          </a:bodyPr>
          <a:lstStyle/>
          <a:p>
            <a:pPr algn="l"/>
            <a:r>
              <a:rPr sz="3000" b="1" i="0">
                <a:solidFill>
                  <a:srgbClr val="8B6914"/>
                </a:solidFill>
                <a:latin typeface="Georgia"/>
              </a:rPr>
              <a:t>01</a:t>
            </a:r>
          </a:p>
        </p:txBody>
      </p:sp>
      <p:sp>
        <p:nvSpPr>
          <p:cNvPr id="8" name="TextBox 7"/>
          <p:cNvSpPr txBox="1"/>
          <p:nvPr/>
        </p:nvSpPr>
        <p:spPr>
          <a:xfrm>
            <a:off x="960120" y="1645920"/>
            <a:ext cx="5029200" cy="347472"/>
          </a:xfrm>
          <a:prstGeom prst="rect">
            <a:avLst/>
          </a:prstGeom>
          <a:noFill/>
        </p:spPr>
        <p:txBody>
          <a:bodyPr wrap="square">
            <a:spAutoFit/>
          </a:bodyPr>
          <a:lstStyle/>
          <a:p>
            <a:pPr algn="l"/>
            <a:r>
              <a:rPr sz="1500" b="1" i="0">
                <a:solidFill>
                  <a:srgbClr val="F5F0E8"/>
                </a:solidFill>
                <a:latin typeface="Calibri"/>
              </a:rPr>
              <a:t>Elegir el dominio</a:t>
            </a:r>
          </a:p>
        </p:txBody>
      </p:sp>
      <p:sp>
        <p:nvSpPr>
          <p:cNvPr id="9" name="TextBox 8"/>
          <p:cNvSpPr txBox="1"/>
          <p:nvPr/>
        </p:nvSpPr>
        <p:spPr>
          <a:xfrm>
            <a:off x="960120" y="2011680"/>
            <a:ext cx="5074920" cy="822960"/>
          </a:xfrm>
          <a:prstGeom prst="rect">
            <a:avLst/>
          </a:prstGeom>
          <a:noFill/>
        </p:spPr>
        <p:txBody>
          <a:bodyPr wrap="square">
            <a:spAutoFit/>
          </a:bodyPr>
          <a:lstStyle/>
          <a:p>
            <a:pPr algn="l"/>
            <a:r>
              <a:rPr sz="1200" b="0" i="0">
                <a:solidFill>
                  <a:srgbClr val="959BA3"/>
                </a:solidFill>
                <a:latin typeface="Calibri"/>
              </a:rPr>
              <a:t>El cliente elige una de las 3 opciones disponibles según su visión de marca.</a:t>
            </a:r>
          </a:p>
        </p:txBody>
      </p:sp>
      <p:sp>
        <p:nvSpPr>
          <p:cNvPr id="10" name="Rectangle 9"/>
          <p:cNvSpPr/>
          <p:nvPr/>
        </p:nvSpPr>
        <p:spPr>
          <a:xfrm>
            <a:off x="6492240" y="960120"/>
            <a:ext cx="5394960" cy="2011680"/>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92240" y="960120"/>
            <a:ext cx="73152" cy="2011680"/>
          </a:xfrm>
          <a:prstGeom prst="rect">
            <a:avLst/>
          </a:prstGeom>
          <a:solidFill>
            <a:srgbClr val="8B6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720840" y="1069848"/>
            <a:ext cx="1371600" cy="548640"/>
          </a:xfrm>
          <a:prstGeom prst="rect">
            <a:avLst/>
          </a:prstGeom>
          <a:noFill/>
        </p:spPr>
        <p:txBody>
          <a:bodyPr wrap="none">
            <a:spAutoFit/>
          </a:bodyPr>
          <a:lstStyle/>
          <a:p>
            <a:pPr algn="l"/>
            <a:r>
              <a:rPr sz="3000" b="1" i="0">
                <a:solidFill>
                  <a:srgbClr val="8B6914"/>
                </a:solidFill>
                <a:latin typeface="Georgia"/>
              </a:rPr>
              <a:t>02</a:t>
            </a:r>
          </a:p>
        </p:txBody>
      </p:sp>
      <p:sp>
        <p:nvSpPr>
          <p:cNvPr id="13" name="TextBox 12"/>
          <p:cNvSpPr txBox="1"/>
          <p:nvPr/>
        </p:nvSpPr>
        <p:spPr>
          <a:xfrm>
            <a:off x="6720840" y="1645920"/>
            <a:ext cx="5029200" cy="347472"/>
          </a:xfrm>
          <a:prstGeom prst="rect">
            <a:avLst/>
          </a:prstGeom>
          <a:noFill/>
        </p:spPr>
        <p:txBody>
          <a:bodyPr wrap="square">
            <a:spAutoFit/>
          </a:bodyPr>
          <a:lstStyle/>
          <a:p>
            <a:pPr algn="l"/>
            <a:r>
              <a:rPr sz="1500" b="1" i="0">
                <a:solidFill>
                  <a:srgbClr val="F5F0E8"/>
                </a:solidFill>
                <a:latin typeface="Calibri"/>
              </a:rPr>
              <a:t>Registrar en NIC.cl</a:t>
            </a:r>
          </a:p>
        </p:txBody>
      </p:sp>
      <p:sp>
        <p:nvSpPr>
          <p:cNvPr id="14" name="TextBox 13"/>
          <p:cNvSpPr txBox="1"/>
          <p:nvPr/>
        </p:nvSpPr>
        <p:spPr>
          <a:xfrm>
            <a:off x="6720840" y="2011680"/>
            <a:ext cx="5074920" cy="822960"/>
          </a:xfrm>
          <a:prstGeom prst="rect">
            <a:avLst/>
          </a:prstGeom>
          <a:noFill/>
        </p:spPr>
        <p:txBody>
          <a:bodyPr wrap="square">
            <a:spAutoFit/>
          </a:bodyPr>
          <a:lstStyle/>
          <a:p>
            <a:pPr algn="l"/>
            <a:r>
              <a:rPr sz="1200" b="0" i="0">
                <a:solidFill>
                  <a:srgbClr val="959BA3"/>
                </a:solidFill>
                <a:latin typeface="Calibri"/>
              </a:rPr>
              <a:t>Registro directo en nic.cl. Costo aproximado: $5.000–$7.000 CLP/año.</a:t>
            </a:r>
          </a:p>
        </p:txBody>
      </p:sp>
      <p:sp>
        <p:nvSpPr>
          <p:cNvPr id="15" name="Rectangle 14"/>
          <p:cNvSpPr/>
          <p:nvPr/>
        </p:nvSpPr>
        <p:spPr>
          <a:xfrm>
            <a:off x="731520" y="3291839"/>
            <a:ext cx="5394960" cy="2011680"/>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31520" y="3291839"/>
            <a:ext cx="73152" cy="2011680"/>
          </a:xfrm>
          <a:prstGeom prst="rect">
            <a:avLst/>
          </a:prstGeom>
          <a:solidFill>
            <a:srgbClr val="8B6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0120" y="3401568"/>
            <a:ext cx="1371600" cy="548640"/>
          </a:xfrm>
          <a:prstGeom prst="rect">
            <a:avLst/>
          </a:prstGeom>
          <a:noFill/>
        </p:spPr>
        <p:txBody>
          <a:bodyPr wrap="none">
            <a:spAutoFit/>
          </a:bodyPr>
          <a:lstStyle/>
          <a:p>
            <a:pPr algn="l"/>
            <a:r>
              <a:rPr sz="3000" b="1" i="0">
                <a:solidFill>
                  <a:srgbClr val="8B6914"/>
                </a:solidFill>
                <a:latin typeface="Georgia"/>
              </a:rPr>
              <a:t>03</a:t>
            </a:r>
          </a:p>
        </p:txBody>
      </p:sp>
      <p:sp>
        <p:nvSpPr>
          <p:cNvPr id="18" name="TextBox 17"/>
          <p:cNvSpPr txBox="1"/>
          <p:nvPr/>
        </p:nvSpPr>
        <p:spPr>
          <a:xfrm>
            <a:off x="960120" y="3977639"/>
            <a:ext cx="5029200" cy="347472"/>
          </a:xfrm>
          <a:prstGeom prst="rect">
            <a:avLst/>
          </a:prstGeom>
          <a:noFill/>
        </p:spPr>
        <p:txBody>
          <a:bodyPr wrap="square">
            <a:spAutoFit/>
          </a:bodyPr>
          <a:lstStyle/>
          <a:p>
            <a:pPr algn="l"/>
            <a:r>
              <a:rPr sz="1500" b="1" i="0">
                <a:solidFill>
                  <a:srgbClr val="F5F0E8"/>
                </a:solidFill>
                <a:latin typeface="Calibri"/>
              </a:rPr>
              <a:t>Verificar marca en INAPI</a:t>
            </a:r>
          </a:p>
        </p:txBody>
      </p:sp>
      <p:sp>
        <p:nvSpPr>
          <p:cNvPr id="19" name="TextBox 18"/>
          <p:cNvSpPr txBox="1"/>
          <p:nvPr/>
        </p:nvSpPr>
        <p:spPr>
          <a:xfrm>
            <a:off x="960120" y="4343400"/>
            <a:ext cx="5074920" cy="822960"/>
          </a:xfrm>
          <a:prstGeom prst="rect">
            <a:avLst/>
          </a:prstGeom>
          <a:noFill/>
        </p:spPr>
        <p:txBody>
          <a:bodyPr wrap="square">
            <a:spAutoFit/>
          </a:bodyPr>
          <a:lstStyle/>
          <a:p>
            <a:pPr algn="l"/>
            <a:r>
              <a:rPr sz="1200" b="0" i="0">
                <a:solidFill>
                  <a:srgbClr val="959BA3"/>
                </a:solidFill>
                <a:latin typeface="Calibri"/>
              </a:rPr>
              <a:t>Confirmar que el nombre elegido no esté registrado como marca comercial en Chile.</a:t>
            </a:r>
          </a:p>
        </p:txBody>
      </p:sp>
      <p:sp>
        <p:nvSpPr>
          <p:cNvPr id="20" name="Rectangle 19"/>
          <p:cNvSpPr/>
          <p:nvPr/>
        </p:nvSpPr>
        <p:spPr>
          <a:xfrm>
            <a:off x="6492240" y="3291839"/>
            <a:ext cx="5394960" cy="2011680"/>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492240" y="3291839"/>
            <a:ext cx="73152" cy="2011680"/>
          </a:xfrm>
          <a:prstGeom prst="rect">
            <a:avLst/>
          </a:prstGeom>
          <a:solidFill>
            <a:srgbClr val="8B6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720840" y="3401568"/>
            <a:ext cx="1371600" cy="548640"/>
          </a:xfrm>
          <a:prstGeom prst="rect">
            <a:avLst/>
          </a:prstGeom>
          <a:noFill/>
        </p:spPr>
        <p:txBody>
          <a:bodyPr wrap="none">
            <a:spAutoFit/>
          </a:bodyPr>
          <a:lstStyle/>
          <a:p>
            <a:pPr algn="l"/>
            <a:r>
              <a:rPr sz="3000" b="1" i="0">
                <a:solidFill>
                  <a:srgbClr val="8B6914"/>
                </a:solidFill>
                <a:latin typeface="Georgia"/>
              </a:rPr>
              <a:t>04</a:t>
            </a:r>
          </a:p>
        </p:txBody>
      </p:sp>
      <p:sp>
        <p:nvSpPr>
          <p:cNvPr id="23" name="TextBox 22"/>
          <p:cNvSpPr txBox="1"/>
          <p:nvPr/>
        </p:nvSpPr>
        <p:spPr>
          <a:xfrm>
            <a:off x="6720840" y="3977639"/>
            <a:ext cx="5029200" cy="347472"/>
          </a:xfrm>
          <a:prstGeom prst="rect">
            <a:avLst/>
          </a:prstGeom>
          <a:noFill/>
        </p:spPr>
        <p:txBody>
          <a:bodyPr wrap="square">
            <a:spAutoFit/>
          </a:bodyPr>
          <a:lstStyle/>
          <a:p>
            <a:pPr algn="l"/>
            <a:r>
              <a:rPr sz="1500" b="1" i="0">
                <a:solidFill>
                  <a:srgbClr val="F5F0E8"/>
                </a:solidFill>
                <a:latin typeface="Calibri"/>
              </a:rPr>
              <a:t>Activar el sitio web</a:t>
            </a:r>
          </a:p>
        </p:txBody>
      </p:sp>
      <p:sp>
        <p:nvSpPr>
          <p:cNvPr id="24" name="TextBox 23"/>
          <p:cNvSpPr txBox="1"/>
          <p:nvPr/>
        </p:nvSpPr>
        <p:spPr>
          <a:xfrm>
            <a:off x="6720840" y="4343400"/>
            <a:ext cx="5074920" cy="822960"/>
          </a:xfrm>
          <a:prstGeom prst="rect">
            <a:avLst/>
          </a:prstGeom>
          <a:noFill/>
        </p:spPr>
        <p:txBody>
          <a:bodyPr wrap="square">
            <a:spAutoFit/>
          </a:bodyPr>
          <a:lstStyle/>
          <a:p>
            <a:pPr algn="l"/>
            <a:r>
              <a:rPr sz="1200" b="0" i="0">
                <a:solidFill>
                  <a:srgbClr val="959BA3"/>
                </a:solidFill>
                <a:latin typeface="Calibri"/>
              </a:rPr>
              <a:t>Configurar hosting, conectar el dominio y lanzar el e-commerce con carrito de compras.</a:t>
            </a:r>
          </a:p>
        </p:txBody>
      </p:sp>
      <p:sp>
        <p:nvSpPr>
          <p:cNvPr id="25" name="Rectangle 24"/>
          <p:cNvSpPr/>
          <p:nvPr/>
        </p:nvSpPr>
        <p:spPr>
          <a:xfrm>
            <a:off x="411480" y="6492240"/>
            <a:ext cx="11777472" cy="45720"/>
          </a:xfrm>
          <a:prstGeom prst="rect">
            <a:avLst/>
          </a:prstGeom>
          <a:solidFill>
            <a:srgbClr val="8B6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6537960"/>
            <a:ext cx="7315200" cy="274320"/>
          </a:xfrm>
          <a:prstGeom prst="rect">
            <a:avLst/>
          </a:prstGeom>
          <a:noFill/>
        </p:spPr>
        <p:txBody>
          <a:bodyPr wrap="square">
            <a:spAutoFit/>
          </a:bodyPr>
          <a:lstStyle/>
          <a:p>
            <a:pPr algn="l"/>
            <a:r>
              <a:rPr sz="1000" b="0" i="1">
                <a:solidFill>
                  <a:srgbClr val="959BA3"/>
                </a:solidFill>
                <a:latin typeface="Calibri"/>
              </a:rPr>
              <a:t>Proyecto e-Commerce  |  Tabaqueria Chile  |  Marzo 2026</a:t>
            </a:r>
          </a:p>
        </p:txBody>
      </p:sp>
      <p:sp>
        <p:nvSpPr>
          <p:cNvPr id="27" name="TextBox 26"/>
          <p:cNvSpPr txBox="1"/>
          <p:nvPr/>
        </p:nvSpPr>
        <p:spPr>
          <a:xfrm>
            <a:off x="8686800" y="6510528"/>
            <a:ext cx="3017520" cy="320040"/>
          </a:xfrm>
          <a:prstGeom prst="rect">
            <a:avLst/>
          </a:prstGeom>
          <a:noFill/>
        </p:spPr>
        <p:txBody>
          <a:bodyPr wrap="square">
            <a:spAutoFit/>
          </a:bodyPr>
          <a:lstStyle/>
          <a:p>
            <a:pPr algn="r"/>
            <a:r>
              <a:rPr sz="1100" b="1" i="0">
                <a:solidFill>
                  <a:srgbClr val="8B6914"/>
                </a:solidFill>
                <a:latin typeface="Georgia"/>
              </a:rPr>
              <a:t>Ezra Torres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